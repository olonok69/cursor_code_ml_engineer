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2801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CURSO / WORKSHOP · DEVELOPER TOOLING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6000" b="1">
                <a:solidFill>
                  <a:srgbClr val="E8EAED"/>
                </a:solidFill>
                <a:latin typeface="Segoe UI"/>
              </a:rPr>
              <a:t>Cursor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2600" b="0">
                <a:solidFill>
                  <a:srgbClr val="9AA4B2"/>
                </a:solidFill>
                <a:latin typeface="Segoe UI"/>
              </a:rPr>
              <a:t>la misma metodología, </a:t>
            </a:r>
            <a:r>
              <a:rPr sz="2600" b="1">
                <a:solidFill>
                  <a:srgbClr val="E8EAED"/>
                </a:solidFill>
                <a:latin typeface="Segoe UI"/>
              </a:rPr>
              <a:t>otra superficie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384048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69080"/>
            <a:ext cx="1051560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D97757"/>
                </a:solidFill>
                <a:latin typeface="Segoe UI"/>
              </a:rPr>
              <a:t>PARTE 1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Cursor: instalación · AGENTS.md &amp; rules · contexto &amp; caching · MCP · skills &amp; marketplace · subagents · automatización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7AA2C7"/>
                </a:solidFill>
                <a:latin typeface="Segoe UI"/>
              </a:rPr>
              <a:t>PARTE 2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La metodología (agnóstica): flujo con gates · CodeGraph / Serena / GSD · transferencia · ops (machine-sync + S3)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500" b="1">
                <a:solidFill>
                  <a:srgbClr val="8CC28C"/>
                </a:solidFill>
                <a:latin typeface="Segoe UI"/>
              </a:rPr>
              <a:t>PARTE 3 — </a:t>
            </a:r>
            <a:r>
              <a:rPr sz="1350" b="0">
                <a:solidFill>
                  <a:srgbClr val="9AA4B2"/>
                </a:solidFill>
                <a:latin typeface="Segoe UI"/>
              </a:rPr>
              <a:t>El grafo de conocimiento de tickets, construido con graphify: pipeline, skills kg / kg-refresh y el grafo real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61264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Volumen 2 del curso: mismo material que la versión Claude Code, verificado contra cursor.com/docs y reescrito para Cursor (agosto 2026).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AGENDA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curso, tres partes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PARTE 1 · Cursor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01  Instalación y uso básico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02  Memoria, instrucciones y sesiones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03  Contexto: context window y prompt caching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04  MCP — conectar tus herramientas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4242816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427939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05  Skills y Marketplace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06  Subagents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07  Automatización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PARTE 2 · La metodología (agnóstica)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17920" y="219456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223113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08  El flujo de 11 etapas + ejemplo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0" y="270662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46520" y="27432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09  Las herramientas del método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3218688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46520" y="325526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10  Transferir: de Claude Code a Cursor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3730752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376732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11  Ops: machine-sync + registro S3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217920" y="434340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PARTE 3 · El grafo de tickets (graphify)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4754880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7914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12  Diseño · pipeline · skills kg / kg-refresh · el grafo real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5266944"/>
            <a:ext cx="53492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46520" y="53035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13  Cierre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Cursor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La herramienta: del editor en tu escritorio a agentes en la nube.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01 · Instalación y uso básico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02 · Memoria y sesiones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03 · Contexto y prompt caching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04 ·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44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1430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05 · Skills y Marketplace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4654296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29400" y="4700016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06 · Subagents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5221224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143000" y="5266944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07 · Automatización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Tres formas de entrar: editor, CLI,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 Cursor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Descarga desde cursor.com — macOS / Windows / Linux.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 (agent)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curl … | bash (Unix) · irm … | iex (Windows) — headless-capable.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— corre tareas en la nube sin editor abierto.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044952"/>
            <a:ext cx="5335524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24612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26440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19125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Multi-repo / 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502152"/>
            <a:ext cx="4375404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Abre varios repos; distingue propiedad de contexto de solo-lectura.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123944"/>
            <a:ext cx="5394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Arrancar en cualquier proyecto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434840"/>
            <a:ext cx="539496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617720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cd tu-proyecto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              # CLI interactivo, login la 1ª vez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4123944"/>
            <a:ext cx="525780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83680" y="4325112"/>
            <a:ext cx="4800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mismo agente en todas partes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83680" y="4782312"/>
            <a:ext cx="475488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 / Agent mode) · CLI (agent)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Web (cursor.com/agents, tareas async)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Bugbot revisa PRs automáticamente en GitHub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Instalar es trivial; el valor está en cómo lo usas.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01 · INSTALACIÓN Y USO BÁSICO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Dos modos: interactivo y headless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Interactivo — pensar contigo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Editor (chat/Agent mode) o CLI `agent`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mode: propone un plan y tú lo apruebas antes de tocar nada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Ideal para explorar, diseñar, depurar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Headless (agent -p) — scripts y CI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Print mode: prompt in (arg), resultado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Combina con --force / --output-format text|json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base de la automatización (sección 07)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306824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mismo Cursor, dos formas de invocarlo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617720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" y="4800600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"resume los cambios de esta rama"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 -p --output-format text "revisa por seguridad los ficheros tocados vs main"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MEMORIA E INSTRUCCIONES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AGENTS.md: el patrón de dos niveles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Nivel 1 — siempre cargado (pequeño)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Orientación mínima: qué es el proyecto, mapa de repos, comandos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Solo PUNTEROS de una línea a todo lo demás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 la onboarding de 30s del agente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write-once: el core apunta, no copia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74520"/>
            <a:ext cx="5349240" cy="2743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7568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Nivel 2 — bajo demanda (el detalle)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532888"/>
            <a:ext cx="484632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data/changes/STATUS.md — estado vivo por ticket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PLAYBOOK.md — lecciones de debugging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SHARP_EDGES.md — invariantes 'no tocar'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&lt;TICKET&gt;/&lt;TICKET&gt;.md — ledgers autocontenidos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mismo recorte que en Claude Code: punteros, no copias — AGENTS.md se mantiene deliberadamente pequeño.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INSTRUCCIONES, PERMISOS Y MEMORIES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AGENTS.md, rules, permisos y memoria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655064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Rules (.mdc) + AGENTS.md (se combinan, no compiten)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1965960"/>
            <a:ext cx="5486400" cy="2148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148840"/>
            <a:ext cx="50292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.cursor/rules/00-core.mdc     # alwaysApply: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.cursor/rules/01-tools.mdc    # @fichero = incluye contenido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AGENTS.md                     # raíz (+ anidado: gana el más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       # específico), sin frontmatter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~/.cursor/permissions.json    # mcpAllowlist server:tool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64208"/>
            <a:ext cx="516636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75120" y="1865376"/>
            <a:ext cx="4709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Permisos = allowlist, no solo UI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322576"/>
            <a:ext cx="46634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permissions.json: mcpAllowlist / terminalAllowlist (glob)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4 modos de rule: Always / Apply Intelligently 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Apply to Specific Files / Apply Manually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es dueño de push/PR/deploy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0624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0740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Memories — un sistema DISTINTO de AGENTS.md/rules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864608"/>
            <a:ext cx="104241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Cursor genera Memories automáticamente a partir de tus chats (no son ficheros que tú escribes).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es el mismo mecanismo que la auto-memory de Claude Code: trátalas como complemento, no como sustituto del patrón de dos niveles.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02 · SESIONES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Dónde vive Cursor: editor, CLI y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Editor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Chat + Agent mode + Plan mode; diffs inline, revisión en el propio IDE.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965960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16712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18541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›_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11226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Cursor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423160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en terminal — igual que el editor, sin UI; ideal para SSH/servers.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Background / Cloud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corre tareas async; sigue el progreso desde la web.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227832"/>
            <a:ext cx="5335524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42900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4728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7413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Bugbot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85032"/>
            <a:ext cx="4375404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Revisa cada PR en GitHub/GitLab/Bitbucket automáticamente, sin script propio.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agente, mismos AGENTS.md/rules/MCP — cambia solo dónde se ejecuta.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Context window: el recurso que gobierna todo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65376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System / agent prompt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186537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Oculto — siempre primero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20840" y="18653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fijo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359152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23957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Rules alwaysApply + AGENTS.md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239572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Lo controlas tú — por eso el patrón de dos niveles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20840" y="2395728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tú decides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2889504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2926080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Memories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29260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Si las hay — distinto sistema, revisa qué se coló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2926080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variable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419856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3456432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Tools MCP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91840" y="34564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Schemas de las tools habilitadas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720840" y="3456432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por server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3950208"/>
            <a:ext cx="694944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3986784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Conversación + resultados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91840" y="398678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E8EAED"/>
                </a:solidFill>
                <a:latin typeface="Segoe UI"/>
              </a:rPr>
              <a:t>Ficheros leídos, output de comandos… crece cada turno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20840" y="3986784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9AA4B2"/>
                </a:solidFill>
                <a:latin typeface="Segoe UI"/>
              </a:rPr>
              <a:t>crece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63840" y="1837944"/>
            <a:ext cx="3703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Los mandos (CLI + UI del editor)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863840" y="2148840"/>
            <a:ext cx="3703320" cy="2331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19872" y="2331720"/>
            <a:ext cx="32461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/summarize  # liberar contexto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agent&gt; /rewind     # mensaje previo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nueva chat / nueva invocación de agent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+ anillo de contexto en el editor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461772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E8EAED"/>
                </a:solidFill>
                <a:latin typeface="Segoe UI"/>
              </a:rPr>
              <a:t>El rendimiento degrada ANTES de llenar la ventana: </a:t>
            </a:r>
            <a:r>
              <a:rPr sz="1200" b="0">
                <a:solidFill>
                  <a:srgbClr val="9AA4B2"/>
                </a:solidFill>
                <a:latin typeface="Segoe UI"/>
              </a:rPr>
              <a:t>contexto con ruido = peores decisiones. Cursor resume automáticamente al acercarse al límite (además del /summarize manual) — no asumas paridad exacta con /compact de Claude Code.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anillo de contexto del editor te dice qué bloque engorda — mide antes de recortar.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Higiene de contexto: máxima señal por token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AGENTS.md / rules mínimos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 puedes borrarlo sin que el agente se equivoque, bórralo. Dos niveles + punteros.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@fichero solo si hace falta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Las rules .mdc soportan @fichero para incluir contenido — úsalo con cuidado, es carga eager.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MCP con moderación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Cada server suma su bloque de tools. Desactiva los que el proyecto no use.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Subagents para investigar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La exploración sucia va a un subagent (sección 06); vuelve solo el resumen.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Plan → Agent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Separa exploración (Plan mode) de implementación; el ruido no se queda a vivir.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Lecturas con puntería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“lee config/auth.ts” &gt; “entiende el auth”. Adelanto: CodeGraph-primero (Parte 2).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prevalencia de tools de la Parte 2 es, en el fondo, política de contexto.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Prompt caching: no pagar lo mismo dos veces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Esto es de la API de Anthropic, no de Cursor — pero si automatizas con la Cursor SDK contra Claude, aplica igual. Orden estricto </a:t>
            </a:r>
            <a:r>
              <a:rPr sz="1250" b="1">
                <a:solidFill>
                  <a:srgbClr val="D97757"/>
                </a:solidFill>
                <a:latin typeface="Consolas"/>
              </a:rPr>
              <a:t>Tools → System → Messages</a:t>
            </a:r>
            <a:r>
              <a:rPr sz="1250" b="0">
                <a:solidFill>
                  <a:srgbClr val="9AA4B2"/>
                </a:solidFill>
                <a:latin typeface="Segoe UI"/>
              </a:rPr>
              <a:t>: un cambio invalida su nivel y los siguientes.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7744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42316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5 min (defecto)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00400" y="242316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1.25×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54880" y="242316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926080"/>
            <a:ext cx="534924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971800"/>
            <a:ext cx="22860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TTL 1 hora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971800"/>
            <a:ext cx="1554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escribir 2×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2971800"/>
            <a:ext cx="10972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leer 0.1×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611880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0">
                <a:solidFill>
                  <a:srgbClr val="E8EAED"/>
                </a:solidFill>
                <a:latin typeface="Segoe UI"/>
              </a:rPr>
              <a:t>Una sesión de 50 turnos relee el prefijo 50 veces a 0.1× — </a:t>
            </a:r>
            <a:r>
              <a:rPr sz="1200" b="1">
                <a:solidFill>
                  <a:srgbClr val="8CC28C"/>
                </a:solidFill>
                <a:latin typeface="Segoe UI"/>
              </a:rPr>
              <a:t>ese es el descuento que hace viables las sesiones largas.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8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Mínimo cacheable ~1k tokens · máx. 4 breakpoints · diagnóstico en usage.cache_read_input_tokens.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0665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Lo estable primero; el breakpoint al final de lo estable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2377440"/>
            <a:ext cx="5349240" cy="26517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73952" y="2560320"/>
            <a:ext cx="4892040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system=[{ "type": "text",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"text": STABLE_INSTRUCTIONS,   # estable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"cache_control":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{"type": "ephemeral"} }]   # breakpoint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messages=[{"role": 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"content": query }]  # variable: FUERA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error clásico: timestamp ANTES del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breakpoint -&gt; 0 hits y nadie sabe por qué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Demo ejecutable: ejemplos/prompt-caching/cache_demo.py — habla con la API Anthropic, no con el producto Cursor.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03 · CONTEXTO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Caching: qué controlas en Cursor y qué no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874520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1920240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AGENTS.md + rules pequeños y estables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12080" y="1920240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Prefijo corto que no cambia entre turnos → mejor comportamiento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96312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2496312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542032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Editar rules/AGENTS.md a mitad de sesión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2542032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Cambia el contexto base → paga impuesto de nuevo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118104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3118104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163824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Muchos servers MCP activos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12080" y="3163824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Bloque de tools grande y cambiante → más contexto fijo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739896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40080" y="3739896"/>
            <a:ext cx="73152" cy="530352"/>
          </a:xfrm>
          <a:prstGeom prst="rect">
            <a:avLst/>
          </a:prstGeom>
          <a:solidFill>
            <a:srgbClr val="8CC2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785616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Nueva sesión / chat limpio entre tareas no relacionadas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12080" y="3785616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Evita arrastrar transcript infinito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61688"/>
            <a:ext cx="10927080" cy="53035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080" y="4361688"/>
            <a:ext cx="73152" cy="53035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407408"/>
            <a:ext cx="4206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Asumir que Cursor expone cache_control como la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2080" y="4407408"/>
            <a:ext cx="6217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No — es un producto distinto; no copies env vars de Claude Code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120640"/>
            <a:ext cx="10927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Cursor no expone cache_control como producto: aplica lo que el proveedor del modelo decida. Lo que sí controlas: tamaño/estabilidad de AGENTS.md + rules + tools MCP.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Contexto lean y estable rinde mejor en cualquier producto — Cursor incluido — aunque no veas el descuento en pantalla.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04 · MCP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Model Context Protocol: conecta tu mundo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9AA4B2"/>
                </a:solidFill>
                <a:latin typeface="Segoe UI"/>
              </a:rPr>
              <a:t>Mismo estándar abierto que en Claude Code — CodeGraph, Serena, Playwright hablan MCP en ambos. Config de proyecto en </a:t>
            </a:r>
            <a:r>
              <a:rPr sz="1250" b="1">
                <a:solidFill>
                  <a:srgbClr val="D97757"/>
                </a:solidFill>
                <a:latin typeface="Consolas"/>
              </a:rPr>
              <a:t>.cursor/mcp.json</a:t>
            </a:r>
            <a:r>
              <a:rPr sz="1250" b="0">
                <a:solidFill>
                  <a:srgbClr val="9AA4B2"/>
                </a:solidFill>
                <a:latin typeface="Segoe UI"/>
              </a:rPr>
              <a:t>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8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project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.cursor/mcp.json — versionado, compartido con el equipo.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04204" y="2331720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5372" y="25328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5372" y="25511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U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4780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Scope user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27164" y="2788920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~/.cursor/mcp.json — editable directamente, o vía Settings → MCP.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41248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Permisos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63040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permissions.json: mcpAllowlist / terminalAllowlist.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204204" y="3310128"/>
            <a:ext cx="5362956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405372" y="351129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5372" y="352958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★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5643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Servers del día a día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27164" y="3767328"/>
            <a:ext cx="44028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serena · context7 · playwright · codegraph (+ supabase opcional).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22452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Añadir un server (secretos por env var; recarga obligatoria)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4535424"/>
            <a:ext cx="10927080" cy="10058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96112" y="4718304"/>
            <a:ext cx="1046988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 "command": "uvx", "args": ["--from", "git+https://github.com/oraios/serena", "serena", "start-mcp-server"] 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tras editar .cursor/mcp.json: recarga/reinicia Cursor — no hay hot-reload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05 · SKILLS Y MARKETPLACE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Skills: compatible con Claude Code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14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Lo que el agente puede hacer: Read/Edit/Shell/Grep + Task + mcp__*. Gobernadas por permissions.json (mcpAllowlist).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74520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202082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331720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.cursor/skills/&lt;n&gt;/SKILL.md con frontmatter name+description. Auto-selección por description.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Interop con Claude Code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 también lee .claude/skills/ — el MISMO SKILL.md sirve en los dos productos.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82112"/>
            <a:ext cx="5335524" cy="1051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83280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401568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28416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Marketplace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39312"/>
            <a:ext cx="437540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cursor.com/marketplace: paquetes instalables de skills+subagents+MCP+hooks+rules.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43400"/>
            <a:ext cx="109270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Lo que YA NO es una brecha frente a Claude Code: </a:t>
            </a:r>
            <a:r>
              <a:rPr sz="1250" b="0">
                <a:solidFill>
                  <a:srgbClr val="9AA4B2"/>
                </a:solidFill>
                <a:latin typeface="Segoe UI"/>
              </a:rPr>
              <a:t>cuando se escribió la guía original de adaptación no existían ni Skills ni Marketplace en Cursor. Hoy ambos son reales — revisa docs.cursor.com antes de asumir que algo “no tiene equivalente”.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Skill = capacidad que Cursor decide usar por su description. Marketplace = el reparto versionado.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Subagents: el ruido muere fuera de tu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011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Feature nativa de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Delegación tipo Task: contexto aislado por subagent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 invoca por lenguaje natural (o /nombre)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Ejecución en paralelo para trabajo independiente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Tipos base documentados de forma laxa — no asumas nombres exactos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Custom = .cursor/agents/&lt;nombre&gt;.md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01168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.cursor/agents/refactor-scout.md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name: refactor-scout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description: Scout blast radius before rename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readonly: true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---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Usa CodeGraph y LUEGO Serena…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534924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445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hay que saber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01768"/>
            <a:ext cx="4846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Contexto AISLADO: solo el resumen vuelve a tu sesión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hereda tu conversación: dale contexto en el prompt de lanzamiento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Ejemplo listo: ejemplos/subagents/.cursor/agents/refactor-scout.md (también prompts/ si prefieres pegar al lanzar).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Paralelismo real: varios Background/Cloud Agents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que NO existe en Cursor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 Teams de Claude Code: lead + teammates + inbox compartido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Sin mensajería directa entre agentes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lo intentes portar 1:1 — no hay producto equivalente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65506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El sustituto pragmático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1965960"/>
            <a:ext cx="5349240" cy="17373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48840"/>
            <a:ext cx="4892040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cursor.com/agents — varias tareas en paralelo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cada Background/Cloud Agent = sesión completa,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en su propia rama, sin coordinarse entre sí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7373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40873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Cómo se usa en la práctica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4544568"/>
            <a:ext cx="4846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Particiona el trabajo por rama/fichero antes de lanzar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humano (o el agente principal) integra resultados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Coste: cada Cloud Agent es una sesión completa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4343400"/>
            <a:ext cx="534924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9AA4B2"/>
                </a:solidFill>
                <a:latin typeface="Segoe UI"/>
              </a:rPr>
              <a:t>Se pide en lenguaje natural: </a:t>
            </a:r>
            <a:r>
              <a:rPr sz="1150" b="0">
                <a:solidFill>
                  <a:srgbClr val="E8EAED"/>
                </a:solidFill>
                <a:latin typeface="Segoe UI"/>
              </a:rPr>
              <a:t>lanza tres Background Agents, uno por módulo, cada uno en su propia rama; revisa y haz merge tú.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Sin inbox compartido: particiona los ficheros/ramas — cada agente es dueño de los suyos.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06 · SUBAGENTS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¿Subagent o Background/Cloud Agent? La decisión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SUBAGENT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1828800"/>
            <a:ext cx="3383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BACKGROUND / CLOUD AGENT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240280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286000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Contexto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Aislado; devuelve un resumen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2286000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Sesión completa, async, en su rama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2807208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2852928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Comunicación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Solo resultado → sesión principal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2852928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Ninguna entre agentes (sin inbox)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374136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3419856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Coste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062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Bajo (lo caro muere fuera)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0" y="3419856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Alto (N sesiones completas)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3941064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986784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Úsalo para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062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Side-quests: investigar, verificar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63840" y="3986784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Trabajo largo/async, o en paralelo real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07992"/>
            <a:ext cx="10927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4553712"/>
            <a:ext cx="30175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E8EAED"/>
                </a:solidFill>
                <a:latin typeface="Segoe UI"/>
              </a:rPr>
              <a:t>Config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.cursor/agents/*.md, prompt o skill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553712"/>
            <a:ext cx="33832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cursor.com/agents (UI / handoff &amp;)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5193792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Puente a la Parte 2: </a:t>
            </a:r>
            <a:r>
              <a:rPr sz="1150" b="0">
                <a:solidFill>
                  <a:srgbClr val="9AA4B2"/>
                </a:solidFill>
                <a:latin typeface="Segoe UI"/>
              </a:rPr>
              <a:t>GSD (Claude Code) empaqueta roles como subagentes plugin; en Cursor esos roles viven como .cursor/agents/ + skills — este proyecto usa data/changes/, no GSD (ver Parte 2).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Subagent para que el ruido muera fuera; Background/Cloud Agent para trabajo largo o async. El coste no es el mismo.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Hooks: el control determinista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8346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contrato de un hook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.cursor/hooks.json (proyecto) o ~/.cursor/hooks.json (usuario)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Payload del evento por STDIN, respuesta JSON por STDOUT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Eventos: beforeShellExecution, beforeMCPExecution, beforeReadFile,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afterFileEdit, preToolUse/postToolUse, beforeSubmitPrompt, stop…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permission: prefer deny para gates (ask a menudo se ignora)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exit 2 = deny también · failClosed si el hook crashea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Patrón de bloqueo (JS)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21945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1874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beforeReadFile — bloquear .env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p = JSON.parse(require("fs")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.readFileSync(0, "utf8"));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if ((p.path || "").includes(".env"))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console.log(JSON.stringify(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{permission:"deny",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user_message:"Bloqueado: .env"}));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process.exit(0);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Con AGENTS.md le pides que se porte bien; con un hook lo garantizas — igual que en Claude Code, distinto contrato.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1 · 07 · AUTOMATIZACIÓN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hooks a agentes en la nube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19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Hooks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Seguridad (.env), formato, type-check bloqueante, veto de push/deploy.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04204" y="1874520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5372" y="207568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5372" y="209397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27164" y="2020824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Headless / CLI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7164" y="2331720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agent -p en scripts y CI (print mode; --force / --output-format).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CI/CD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Bugbot (nativo) para revisión de PR, o Cursor SDK en tu propio GitHub Action.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4204" y="2944368"/>
            <a:ext cx="5362956" cy="86868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5372" y="314553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5372" y="316382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27164" y="3090672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Scheduling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27164" y="3401568"/>
            <a:ext cx="440283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Automations: cron + triggers (Slack, Linear, PR merged, PagerDuty).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3968496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Cursor SDK (@cursor/sdk) — Agent.prompt (one-shot) · Agent.create+send (stream/multi-turn)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4279392"/>
            <a:ext cx="10927080" cy="118872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96112" y="4462272"/>
            <a:ext cx="10469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import { Agent } from "@cursor/sdk";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const result = await Agent.prompt(prompt, 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apiKey: process.env.CURSOR_API_KEY!, local: { cwd } });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multi-turn: Agent.create(...) → agent.send(...) → run.stream()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La metodología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Agnóstica de la herramienta: se demuestra con Cursor, pero la disciplina viaja.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08 · El flujo de 11 etapas + ejemplo real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09 · Las herramientas del método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10 · Transferir: de Claude Code a Cursor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11 · Ops: machine-sync + registro compartido (S3)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agente es un colaborador disciplinado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21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0927080" cy="105156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424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>
                <a:solidFill>
                  <a:srgbClr val="E8EAED"/>
                </a:solidFill>
                <a:latin typeface="Segoe UI"/>
              </a:rPr>
              <a:t>“La autonomía se gana por-decisión, no se concede en bloque.”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agente posee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Investigación y diagnóstico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Planes e implementación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Tests y documentación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3108960"/>
            <a:ext cx="5349240" cy="1874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331012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El humano posee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3767328"/>
            <a:ext cx="484632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Decisiones go/no-go y el scope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Toda acción externa: push, PR, deploy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La aprobación del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5138928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Agnóstica:  </a:t>
            </a:r>
            <a:r>
              <a:rPr sz="1100" b="0">
                <a:solidFill>
                  <a:srgbClr val="9AA4B2"/>
                </a:solidFill>
                <a:latin typeface="Segoe UI"/>
              </a:rPr>
              <a:t>no es un flujo de Cursor — es una forma de trabajar con CUALQUIER agente. La sección 10 lo demuestra transfiriéndola desde Claude Code (y también llega a GitHub Copilot).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flujo real de 11 etapas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7452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Orientar: skill kg + history-first + status-first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2478024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0700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Triaje inbound: ¿síntoma en el contrato?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081528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Regresión vs. pre-existente (probarlo)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0700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Investigar: oráculo determinista barato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0700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Plan mode → acuerdo humano explícito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892040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499262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6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07008" y="494690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Implementar: TDD RED → GREEN, mínimo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263640" y="1874520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91656" y="1975104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830568" y="1929384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Verificar: gate outbound ×5 (instrumento → lista → imagen → mirar)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263640" y="2478024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391656" y="2578608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30568" y="2532888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Documentar — cada cosa una vez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63640" y="3081528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91656" y="3182112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9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30568" y="3136392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Sanitizar — líneas añadidas (skill sanitise-diff)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63640" y="3685032"/>
            <a:ext cx="5349240" cy="512064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solidFill>
            <a:srgbClr val="222B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91656" y="37856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E8EAED"/>
                </a:solidFill>
                <a:latin typeface="Segoe UI"/>
              </a:rPr>
              <a:t>10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830568" y="3739896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Handoff: el humano hace push / PR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63640" y="4288536"/>
            <a:ext cx="5349240" cy="512064"/>
          </a:xfrm>
          <a:prstGeom prst="rect">
            <a:avLst/>
          </a:prstGeom>
          <a:solidFill>
            <a:srgbClr val="1A212B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391656" y="43891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0F141A"/>
                </a:solidFill>
                <a:latin typeface="Segoe UI"/>
              </a:rPr>
              <a:t>11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30568" y="4343400"/>
            <a:ext cx="46634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Revisión Bugbot/bot + persistir lecciones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504688"/>
            <a:ext cx="10927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■ </a:t>
            </a:r>
            <a:r>
              <a:rPr sz="1100" b="0">
                <a:solidFill>
                  <a:srgbClr val="9AA4B2"/>
                </a:solidFill>
                <a:latin typeface="Segoe UI"/>
              </a:rPr>
              <a:t>Los recuadros coral son GATES (puntos de decisión). Un gate rojo = STOP: no escribir código.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agente orquesta y es donde vive la inferencia; lo caro se concentra en plan/código/verify, no en buscar.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08 · LA METODOLOGÍA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Un ejemplo real, de principio a fin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23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0927080" cy="566928"/>
          </a:xfrm>
          <a:prstGeom prst="rect">
            <a:avLst/>
          </a:prstGeom>
          <a:solidFill>
            <a:srgbClr val="222B38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D97757"/>
                </a:solidFill>
                <a:latin typeface="Segoe UI"/>
              </a:rPr>
              <a:t>Bug QA: </a:t>
            </a:r>
            <a:r>
              <a:rPr sz="1250" b="0">
                <a:solidFill>
                  <a:srgbClr val="E8EAED"/>
                </a:solidFill>
                <a:latin typeface="Segoe UI"/>
              </a:rPr>
              <a:t>“un campo sale vacío en la UI, pero está escrito en el PDF.”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254203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54203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57860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57860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kg saca la zona de peligro (un SHARP_EDGE que restringe el fix); git/gh dan la base.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54096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3054096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090672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00400" y="3090672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El campo está vacío en el JSON del endpoint (Playwright MCP) → el Lambda es responsable.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566160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566160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602736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Provenance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0" y="3602736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Re-extraer en la base previa: ya salía vacío → pre-existente, no regresión.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4078224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078224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114800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Investigar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114800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Serena + CodeGraph (MCP) localizan el detector; un _diag_pdf.py determinista da la causa: SIN LLM.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0080" y="4590288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0080" y="4590288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4626864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Fix + verificar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0" y="4626864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Test RED → fix estructural (no cliente) → regresión no-op + contrato local (wrapper) + dentro de la imagen desplegada.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5102352"/>
            <a:ext cx="10927080" cy="43891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" y="5102352"/>
            <a:ext cx="73152" cy="43891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138928"/>
            <a:ext cx="21945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Handoff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0" y="51389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E8EAED"/>
                </a:solidFill>
                <a:latin typeface="Segoe UI"/>
              </a:rPr>
              <a:t>Skill sanitise-diff → el humano hace push/PR. Bugbot detecta un caso más → test + PLAYBOOK.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El modelo no gana confianza gratis: la gana decisión a decisión, con evidencia.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Qué herramienta usa el agente, y cuándo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37360"/>
            <a:ext cx="10927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9AA4B2"/>
                </a:solidFill>
                <a:latin typeface="Segoe UI"/>
              </a:rPr>
              <a:t>Regla de .cursor/rules/01-tool-prevalence.mdc: </a:t>
            </a:r>
            <a:r>
              <a:rPr sz="1200" b="1">
                <a:solidFill>
                  <a:srgbClr val="E8EAED"/>
                </a:solidFill>
                <a:latin typeface="Segoe UI"/>
              </a:rPr>
              <a:t>codegraph_explore PRIMERO (survey en 1 llamada) · Serena find_referencing_symbols para el chequeo preciso antes de renombrar. </a:t>
            </a:r>
            <a:r>
              <a:rPr sz="1200" b="0">
                <a:solidFill>
                  <a:srgbClr val="9AA4B2"/>
                </a:solidFill>
                <a:latin typeface="Segoe UI"/>
              </a:rPr>
              <a:t>Orden: barato → caro, determinista → probabilístico.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2860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3317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Orientar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1188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Skill kg (grafo de tickets → zona de peligro) · STATUS.md · git · gh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49840" y="23317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80" y="283464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28803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Navegar (survey)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8803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CodeGraph codegraph_explore (MCP) — fuente + rutas + blast radius + cobertura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49840" y="28803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1 llamada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338328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342900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Refactor-check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80" y="34290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Serena find_referencing_symbols (MCP) — desambigua por clase (antes de renombrar)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49840" y="342900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preciso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393192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97764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Diagnosticar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11880" y="39776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Oráculo determinista: parser / validador / _diag_*.py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49840" y="397764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sin inferencia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48056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452628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Entorno (logs, config)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5262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AWS CLI — CloudWatch · lambda get-function · SQS/DLQ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49840" y="452628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read-only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40080" y="5029200"/>
            <a:ext cx="10927080" cy="4572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507492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Contrato de salida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611880" y="50749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Playwright MCP sobre el endpoint que ve el consumidor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49840" y="507492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reproducir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5577840"/>
            <a:ext cx="10927080" cy="457200"/>
          </a:xfrm>
          <a:prstGeom prst="rect">
            <a:avLst/>
          </a:prstGeom>
          <a:solidFill>
            <a:srgbClr val="222B38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623560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Solo al final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56235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E8EAED"/>
                </a:solidFill>
                <a:latin typeface="Segoe UI"/>
              </a:rPr>
              <a:t>La tirada del agente — para VERIFICAR el fix, no para diagnosticar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49840" y="5623560"/>
            <a:ext cx="12801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9AA4B2"/>
                </a:solidFill>
                <a:latin typeface="Segoe UI"/>
              </a:rPr>
              <a:t>metered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Cada herramienta, en una frase — y su fase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25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41248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CG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CodeGraph → investigar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del CÓDIGO (tree-sitter→SQLite, local, vía MCP). Survey en 1 llamada: fuente + callers + blast radius + cobertura.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1636" y="1828800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32804" y="2029968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2804" y="2048256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54596" y="1975104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Serena → pre-refactor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54596" y="2286000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Navegación semántica vía LSP (MCP). find_referencing_symbols desambigua por clase: el chequeo preciso antes de renombrar.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41248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8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GSD → plan/ejecutar/verificar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El método productizado — solo Claude Code hoy. En Cursor: Plan mode + skill methodology-plan + data/changes/.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31636" y="3163824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32804" y="3364992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32804" y="3383280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kg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54596" y="3310128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Skill kg → orientar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4596" y="3621024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Grafo de la MEMORIA del proyecto (con graphify): tickets + sharp edges. History-first sin LLM (Parte 3).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41248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1248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Pw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463040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Playwright (MCP) → triaje y outbound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463040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Reproduce el síntoma donde lo ve el consumidor: el endpoint real, no una función interna.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31636" y="4498848"/>
            <a:ext cx="5335524" cy="1078992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432804" y="4700016"/>
            <a:ext cx="457200" cy="4572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32804" y="4718304"/>
            <a:ext cx="45720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0F141A"/>
                </a:solidFill>
                <a:latin typeface="Segoe UI"/>
              </a:rPr>
              <a:t>Or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54596" y="4645152"/>
            <a:ext cx="437540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E8EAED"/>
                </a:solidFill>
                <a:latin typeface="Segoe UI"/>
              </a:rPr>
              <a:t>Oráculos → diagnosticar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54596" y="4956048"/>
            <a:ext cx="4375404" cy="5760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9AA4B2"/>
                </a:solidFill>
                <a:latin typeface="Segoe UI"/>
              </a:rPr>
              <a:t>Parsers/validadores/_diag_*.py propios: respuesta barata y reproducible antes de gastar la tirada del agente.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 inversión clásica — el modelo diagnostica — es lo que este orden evita: el modelo verifica; los oráculos diagnostican.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GSD: solo existe en Claude Code (hoy)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Qué es GSD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Plugin de Claude Code para gestión de proyectos por fases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Ciclo: discuss → plan (gate) → execute → verify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Subagentes gsd-planner, gsd-plan-checker, gsd-executor,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  gsd-code-reviewer, gsd-verifier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versionado en .planning/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No hay port oficial a Cursor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30175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Equivalente en Cursor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2194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para el gate discuss → plan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methodology-plan rellena la plantilla antes de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Roles gsd-* → Task/subagents + prompts con ese rol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Estado en data/changes/ (igual que Claude Code)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GSD brilla en greenfield multi-fase; aquí no se usa a diario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Mismo método, sin el plugin: en Cursor, Plan mode + skills replican los gates de GSD.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CodeGraph: inteligencia de código local (vía MCP)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27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1945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Índice tree-sitter → SQLite (.codegraph/)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Símbolos: funciones, clases, rutas, componentes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Aristas: llamadas, imports, herencia, referencias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Determinista (del AST), sin API keys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Devuelve: fuente + rutas + blast radius + cobertura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70078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CLI + registro en Cursor (no 'claude mcp add')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011680"/>
            <a:ext cx="5349240" cy="16916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194560"/>
            <a:ext cx="48920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init      # crea .codegraph/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sync      # incremental tras editar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codegraph explore "&lt;símbolo|pregunta&gt;"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.cursor/mcp.json: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"codegraph": {"command":"codegraph",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"args":["serve","--path","&lt;repo&gt;","--mcp"]}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886200"/>
            <a:ext cx="5349240" cy="10058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4005072"/>
            <a:ext cx="49377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Primero para navegar:  </a:t>
            </a:r>
            <a:r>
              <a:rPr sz="1100" b="0">
                <a:solidFill>
                  <a:srgbClr val="E8EAED"/>
                </a:solidFill>
                <a:latin typeface="Segoe UI"/>
              </a:rPr>
              <a:t>fuente + callers + blast radius + cobertura en 1 consulta (trátala como YA leída). Serena find_referencing_symbols = chequeo preciso (desambigua por clase).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206240"/>
            <a:ext cx="53492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8CC28C"/>
                </a:solidFill>
                <a:latin typeface="Segoe UI"/>
              </a:rPr>
              <a:t>58% menos tool calls · 22% más rápido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9AA4B2"/>
                </a:solidFill>
                <a:latin typeface="Segoe UI"/>
              </a:rPr>
              <a:t>(según sus benchmarks: casi elimina las lecturas de fichero)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Una consulta en vez de grep→abrir→seguir-import→repetir. Menos contexto, más señal.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09 · HERRAMIENTAS DEL MÉTODO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Serena: navegación semántica, chequeo preciso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28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774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Navegación semántica vía LSP (MCP)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Opera sobre SÍMBOLOS, no texto: precisión de IDE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find_symbol (body=true) — un método de un fichero de 5k líneas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get_symbols_overview — esqueleto de un fichero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find_referencing_symbols — quién referencia, POR CLASE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search_for_pattern · activate_project (multi-repo)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17920" y="1837944"/>
            <a:ext cx="534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Instalar (stdio) — no uses 'claude mcp add'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2148840"/>
            <a:ext cx="5349240" cy="123444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3952" y="2331720"/>
            <a:ext cx="4892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// .cursor/mcp.json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"serena": {"command":"uvx","args":["--from",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"git+https://github.com/oraios/serena",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"serena","start-mcp-server"]}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0" y="3657600"/>
            <a:ext cx="5349240" cy="1417320"/>
          </a:xfrm>
          <a:prstGeom prst="rect">
            <a:avLst/>
          </a:prstGeom>
          <a:solidFill>
            <a:srgbClr val="1A212B"/>
          </a:solidFill>
          <a:ln w="9525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3794760"/>
            <a:ext cx="4937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D97757"/>
                </a:solidFill>
                <a:latin typeface="Segoe UI"/>
              </a:rPr>
              <a:t>Por qué es OBLIGATORIO pre-rename:  </a:t>
            </a:r>
            <a:r>
              <a:rPr sz="1100" b="0">
                <a:solidFill>
                  <a:srgbClr val="E8EAED"/>
                </a:solidFill>
                <a:latin typeface="Segoe UI"/>
              </a:rPr>
              <a:t>el impact plano de CodeGraph mezcla métodos homónimos (Invoice.process vs Refund.process); Serena los desambigua por clase. Complementarios, no rivales.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434840"/>
            <a:ext cx="5349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La plantilla refactor-scout </a:t>
            </a:r>
            <a:r>
              <a:rPr sz="1150" b="0">
                <a:solidFill>
                  <a:srgbClr val="9AA4B2"/>
                </a:solidFill>
                <a:latin typeface="Segoe UI"/>
              </a:rPr>
              <a:t>(ejemplos/subagents/prompts/) empaqueta el orden CodeGraph → Serena → grep como procedimiento.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CodeGraph responde '¿qué se rompe?'; Serena responde '¿exactamente quién llama a ESTE process()?'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10 · TRANSFERENCIA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La prueba real: de Claude Code a Cursor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29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Viaja SIN cambios (las 5 reglas)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→ acuerdo → implementar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Verificar en el contrato del CONSUMIDOR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Resolver la clase general, no un input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Rastro durable: porqué, qué, cómo se verificó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humano posee lo externo (merge, deploy)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514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Lo que SÍ cambia: la superficie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CLAUDE.md (+ jerarquía) → AGENTS.md + .cursor/rules/*.mdc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~/.claude/skills/ → .cursor/skills/ (mismo SKILL.md)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Hooks + settings.local.json → .cursor/hooks.json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Plan mode → Plan mode (misma disciplina)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Subagents/Agent Teams → .cursor/agents/*.md (sin Teams)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claude -p (headless) → agent -p (Cursor CLI print mode)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526280"/>
            <a:ext cx="10927080" cy="1143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7274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starter-kit: CURSOR_ADAPTATION.md (docs/ai-agents-code-methodology/)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184648"/>
            <a:ext cx="10424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mapeo completo + cursor/ (rules, skills, MCP, hooks listos para copiar) + bootstrap-cursor-repo.ps1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mismo pack trae COPILOT_ADAPTATION.md: no es un caso especial — la disciplina llega a un tercer agente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Este mismo repo es la prueba: metodología nacida en Claude Code, corriendo en Cursor con CURSOR_ADAPTATION.md.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2 · 11 · 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transportar (tarball) a compartir (S3)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30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A · Bring-up: tarball + USB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Outbound = copia completa; inbound = solo delta de data/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USB: mount manual en WSL + verificar byte a byte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 destino: bootstrap + target-setup.sh rehacen el tooling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Sigue siendo el camino para levantar una máquina desde cero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33172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B · Día a día: registro sobre S3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Alcance estrecho: changes/**/*.md + grafo (nada de cliente)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Escribe por sync; lee por mount de SOLO LECTURA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Dry-run por defecto; guardia en AMBAS direcciones (sin --delete también se pisa)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solo publisher. "Derivado" es del fichero, no de la carpeta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Lo específico de agentes: IDENTITY.md machine-local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241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Cada máquina declara MACHINE_NAME + MACHINE_ROLE (publisher | contributor)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AGENTS.md apunta a IDENTITY.md — la sesión lee su rol ANTES de actuar (si no, un contributor republica el grafo)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Cuando el rastro durable pasa de una máquina a un equipo, el agente tiene que saber en qué máquina está antes de actuar.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11696"/>
            <a:ext cx="12191695" cy="14630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D97757"/>
                </a:solidFill>
                <a:latin typeface="Segoe UI"/>
              </a:rPr>
              <a:t>PARTE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5156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>
                <a:solidFill>
                  <a:srgbClr val="E8EAED"/>
                </a:solidFill>
                <a:latin typeface="Segoe UI"/>
              </a:rPr>
              <a:t>El grafo de tickets</a:t>
            </a:r>
          </a:p>
        </p:txBody>
      </p:sp>
      <p:sp>
        <p:nvSpPr>
          <p:cNvPr id="7" name="Rectangle 6"/>
          <p:cNvSpPr/>
          <p:nvPr/>
        </p:nvSpPr>
        <p:spPr>
          <a:xfrm>
            <a:off x="932688" y="2606040"/>
            <a:ext cx="1280160" cy="45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788920"/>
            <a:ext cx="10332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>
                <a:solidFill>
                  <a:srgbClr val="9AA4B2"/>
                </a:solidFill>
                <a:latin typeface="Segoe UI"/>
              </a:rPr>
              <a:t>Un caso completo construido con graphify — la memoria del proyecto, navegable desde Cursor.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430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12a · El problema y el diseño (spike)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0" y="3520440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3566160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12b · Pipeline y comandos (skill kg, kg-refresh)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430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12c · El grafo real, visualizado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4087368"/>
            <a:ext cx="5212080" cy="475488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29400" y="4133088"/>
            <a:ext cx="48463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E8EAED"/>
                </a:solidFill>
                <a:latin typeface="Segoe UI"/>
              </a:rPr>
              <a:t>12d · Uso y enganche en la metodología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12A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problema, y por qué graphify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32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El problema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~540 ficheros de writeups, sharp edges, runbooks,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Un bug 'nuevo' casi siempre tiene contexto previo que restringe el fix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Encontrarlo a mano = recordar que existe +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grafo lo hace EXPLÍCITO y consultable en 1 llamada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0" y="1828800"/>
            <a:ext cx="534924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2029968"/>
            <a:ext cx="4892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El corpus: manifest, no glob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2487168"/>
            <a:ext cx="48463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manifest.txt DIFFEABLE: ~116 ficheros, ~196k palabras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Writeups sst-* (+ fallback determinista) · hubs · runbooks · memoria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Exclusiones duras: binarios, handovers repetidos, copias stale (payload/)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Densidad sin conocimiento nuevo = ruido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343400"/>
            <a:ext cx="10927080" cy="1234440"/>
          </a:xfrm>
          <a:prstGeom prst="rect">
            <a:avLst/>
          </a:prstGeom>
          <a:solidFill>
            <a:srgbClr val="222B38"/>
          </a:solidFill>
          <a:ln w="9525">
            <a:solidFill>
              <a:srgbClr val="8CC2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498848"/>
            <a:ext cx="1042416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8CC28C"/>
                </a:solidFill>
                <a:latin typeface="Segoe UI"/>
              </a:rPr>
              <a:t>La tecnología es graphify — CodeGraph es solo la analogía.  </a:t>
            </a:r>
            <a:r>
              <a:rPr sz="1150" b="0">
                <a:solidFill>
                  <a:srgbClr val="E8EAED"/>
                </a:solidFill>
                <a:latin typeface="Segoe UI"/>
              </a:rPr>
              <a:t>Mismo rol (grafo consultable antes de tocar nada), otro dominio (tickets, no código), otra herramienta. El pipeline de build se generó originalmente en Claude Code; hoy la consulta y el refresco viven como skills kg / kg-refresh — el mismo SKILL.md funciona en Cursor y en Claude Code.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Material completo (diseño, scripts, tests, salida real): docs/knowledge-graph/.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12B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Pipeline y skills — kg y kg-refresh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Build (skill kg-refresh)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96596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prepare   # manifest -&gt; stage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-&gt; scratch FUERA del repo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extracción semántica con el agente: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                        # nodos+aristas+clustering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kg_refresh.sh finalize  # output/ + leak-check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Las piezas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Skills kg y kg-refresh (.cursor/skills/ o .claude/skills/ — mismo fichero)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kg_query.sh — envuelve graphify explain/path + find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kg_refresh.sh — prepare · finalize · bootstrap · snapshot/restore-memory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build_manifest.py + stage_corpus.py — el corpus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test_kg_*.py — los bookends, TESTEADOS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24528"/>
            <a:ext cx="10927080" cy="13716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370832"/>
            <a:ext cx="10424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El gotcha que lo sostiene:  </a:t>
            </a:r>
            <a:r>
              <a:rPr sz="1150" b="0">
                <a:solidFill>
                  <a:srgbClr val="E8EAED"/>
                </a:solidFill>
                <a:latin typeface="Segoe UI"/>
              </a:rPr>
              <a:t>graphify respeta .gitignore y todo data/ lo está → correr el detector in situ encuentra 0 ficheros. Por eso el corpus se monta en un scratch fuera del repo y los artefactos se copian de vuelta.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Por eso kg-refresh es un skill, no solo un script:  </a:t>
            </a:r>
            <a:r>
              <a:rPr sz="1150" b="0">
                <a:solidFill>
                  <a:srgbClr val="E8EAED"/>
                </a:solidFill>
                <a:latin typeface="Segoe UI"/>
              </a:rPr>
              <a:t>el paso semántico (extracción, subagentes en paralelo) necesita un agente; los bookends son deterministas.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Staging con provenance: sst-5468__sst-5468.md, hub__STATUS.md, memory__x.md — cada nodo traza a su fuente.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12C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El grafo real: 507 nodos, 35 comunidades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34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" y="1764792"/>
            <a:ext cx="8083296" cy="4562856"/>
          </a:xfrm>
          <a:prstGeom prst="rect">
            <a:avLst/>
          </a:prstGeom>
          <a:noFill/>
          <a:ln w="12700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g_grap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83080"/>
            <a:ext cx="8046720" cy="452628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869680" y="1783080"/>
            <a:ext cx="2697480" cy="310896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0" y="1984248"/>
            <a:ext cx="22402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8CC28C"/>
                </a:solidFill>
                <a:latin typeface="Segoe UI"/>
              </a:rPr>
              <a:t>La salida real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441448"/>
            <a:ext cx="21945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507 nodos · 672 aristas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35 comunidades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92% EXTRACTED (fiable)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7% INFERRED (conf. 0.7)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8CC28C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116 ficheros, ~196k palabras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869680" y="5029200"/>
            <a:ext cx="2697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graph.html interactivo: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búsqueda de nodos, filtro por comunidad (vis-network).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Las comunidades mapean a zonas de peligro reales; los god-nodes son la lista de onboarding gratis.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PARTE 3 · 12D · GRAFO DE TICKETS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Cómo se usa — y dónde se engancha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46504"/>
            <a:ext cx="5806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7AA2C7"/>
                </a:solidFill>
                <a:latin typeface="Segoe UI"/>
              </a:rPr>
              <a:t>Consulta: CERO LLM (kg_query.sh lee graph.json)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057400"/>
            <a:ext cx="5806440" cy="1828800"/>
          </a:xfrm>
          <a:prstGeom prst="rect">
            <a:avLst/>
          </a:prstGeom>
          <a:solidFill>
            <a:srgbClr val="0A0E13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2240280"/>
            <a:ext cx="5349240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explain &lt;ticket|tema&gt;  # vecinos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path &lt;A&gt; &lt;B&gt;           # camino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E8EAED"/>
                </a:solidFill>
                <a:latin typeface="Consolas"/>
              </a:rPr>
              <a:t>kg_query.sh find &lt;substr&gt;          # nombre exacto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9AA4B2"/>
                </a:solidFill>
                <a:latin typeface="Consolas"/>
              </a:rPr>
              <a:t># skill kg-refresh                 # reconstruir (barato)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1755648"/>
            <a:ext cx="4846320" cy="22860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95160" y="1956816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D97757"/>
                </a:solidFill>
                <a:latin typeface="Segoe UI"/>
              </a:rPr>
              <a:t>Dónde se engancha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2414016"/>
            <a:ext cx="43434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Etapa 1 (Orientar) del flujo de 11 etapas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Regla history-first de .cursor/rules/00-methodology-core.mdc: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skill kg &lt;ticket|tema&gt; ANTES de grep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D9775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Apunta a QUÉ leer; no lo sustituye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4069080"/>
            <a:ext cx="5806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CC28C"/>
                </a:solidFill>
                <a:latin typeface="Segoe UI"/>
              </a:rPr>
              <a:t>Ejemplo real: kg get_letter_end </a:t>
            </a:r>
            <a:r>
              <a:rPr sz="1150" b="0">
                <a:solidFill>
                  <a:srgbClr val="9AA4B2"/>
                </a:solidFill>
                <a:latin typeface="Segoe UI"/>
              </a:rPr>
              <a:t>→ la zona de peligro completa al instante: los 5-6 tickets que comparten ese código.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4754880"/>
            <a:ext cx="10927080" cy="91440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956048"/>
            <a:ext cx="10469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7AA2C7"/>
                </a:solidFill>
                <a:latin typeface="Segoe UI"/>
              </a:rPr>
              <a:t>Honestidad y ciclo de vida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5413248"/>
            <a:ext cx="10424160" cy="91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50" b="1">
                <a:solidFill>
                  <a:srgbClr val="7AA2C7"/>
                </a:solidFill>
                <a:latin typeface="Segoe UI"/>
              </a:rPr>
              <a:t>▸  </a:t>
            </a:r>
            <a:r>
              <a:rPr sz="1150" b="0">
                <a:solidFill>
                  <a:srgbClr val="E8EAED"/>
                </a:solidFill>
                <a:latin typeface="Segoe UI"/>
              </a:rPr>
              <a:t>Recall en zonas densas · EXTRACTED = fiable, INFERRED = pista · interno (data/) · derivado se reconstruye, pero lo escrito a mano viaja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" y="5806440"/>
            <a:ext cx="10927080" cy="475488"/>
          </a:xfrm>
          <a:prstGeom prst="rect">
            <a:avLst/>
          </a:prstGeom>
          <a:solidFill>
            <a:srgbClr val="222B38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806440"/>
            <a:ext cx="82296" cy="4754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5833872"/>
            <a:ext cx="10607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“ </a:t>
            </a:r>
            <a:r>
              <a:rPr sz="1250" b="0">
                <a:solidFill>
                  <a:srgbClr val="E8EAED"/>
                </a:solidFill>
                <a:latin typeface="Segoe UI"/>
              </a:rPr>
              <a:t>Un paso semántico en el build, cero LLM en la consulta. El grafo es el mapa; el agente, el guía.</a:t>
            </a:r>
            <a:r>
              <a:rPr sz="1300" b="1">
                <a:solidFill>
                  <a:srgbClr val="D97757"/>
                </a:solidFill>
                <a:latin typeface="Segoe UI"/>
              </a:rPr>
              <a:t> ”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91440" y="-91440"/>
            <a:ext cx="12371832" cy="7040880"/>
          </a:xfrm>
          <a:prstGeom prst="rect">
            <a:avLst/>
          </a:prstGeom>
          <a:solidFill>
            <a:srgbClr val="0F14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D97757"/>
                </a:solidFill>
                <a:latin typeface="Segoe UI"/>
              </a:rPr>
              <a:t>CIERRE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" y="841248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>
                <a:solidFill>
                  <a:srgbClr val="E8EAED"/>
                </a:solidFill>
                <a:latin typeface="Segoe UI"/>
              </a:rPr>
              <a:t>De asistente a sistema, en cualquier editor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72768"/>
            <a:ext cx="1005840" cy="411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6419088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66707E"/>
                </a:solidFill>
                <a:latin typeface="Segoe UI"/>
              </a:rPr>
              <a:t>Cursor · Curso / Workshop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0" y="6419088"/>
            <a:ext cx="1097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66707E"/>
                </a:solidFill>
                <a:latin typeface="Segoe UI"/>
              </a:rPr>
              <a:t>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D97757"/>
                </a:solidFill>
                <a:latin typeface="Segoe UI"/>
              </a:rPr>
              <a:t>PARTE 1 · la herramienta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231343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Instalar + memoria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Editor, CLI (agent) o nube; AGENTS.md + rules de dos niveles; Memories aparte.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2960" y="318211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Contexto &amp; caching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El presupuesto y el descuento: lean y estable gana en ambos, aunque no lo veas en pantalla.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22960" y="405079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MCP + skills + Marketplace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Conecta tu mundo; empaqueta y distribuye flujos — y comparte SKILL.md con Claude Code.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919472"/>
            <a:ext cx="402336" cy="40233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Subagents + automatización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Escala el trabajo; hooks que garantizan calidad; Bugbot y Automations en la nube.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17920" y="1783080"/>
            <a:ext cx="5349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7AA2C7"/>
                </a:solidFill>
                <a:latin typeface="Segoe UI"/>
              </a:rPr>
              <a:t>PARTE 2 + 3 · el método y el grafo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214884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400800" y="231343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0" y="232257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9440" y="22402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flujo de 11 etapas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949440" y="254203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Gates deterministas; el humano posee las decisiones.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01752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318211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0" y="319125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49440" y="31089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Las tools del método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949440" y="341071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CodeGraph · Serena · oráculos: barato→caro; GSD = el método productizado (Claude Code).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0" y="388620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400800" y="405079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405993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9776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Transferible y hasta en ops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949440" y="427939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CURSOR_ADAPTATION.md; machine-sync + registro S3 con identidad por máquina.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4754880"/>
            <a:ext cx="5349240" cy="777240"/>
          </a:xfrm>
          <a:prstGeom prst="rect">
            <a:avLst/>
          </a:prstGeom>
          <a:solidFill>
            <a:srgbClr val="1A212B"/>
          </a:solidFill>
          <a:ln w="9525">
            <a:solidFill>
              <a:srgbClr val="2E394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400800" y="4919472"/>
            <a:ext cx="402336" cy="402336"/>
          </a:xfrm>
          <a:prstGeom prst="rect">
            <a:avLst/>
          </a:prstGeom>
          <a:solidFill>
            <a:srgbClr val="7AA2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4928616"/>
            <a:ext cx="402336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0F141A"/>
                </a:solidFill>
                <a:latin typeface="Segoe UI"/>
              </a:rPr>
              <a:t>8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949440" y="48463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E8EAED"/>
                </a:solidFill>
                <a:latin typeface="Segoe UI"/>
              </a:rPr>
              <a:t>El grafo de tickets (graphify)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49440" y="5148072"/>
            <a:ext cx="45720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9AA4B2"/>
                </a:solidFill>
                <a:latin typeface="Segoe UI"/>
              </a:rPr>
              <a:t>507 nodos · 35 comunidades: history-first sin LLM, skill kg en cualquier agente.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" y="58064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66707E"/>
                </a:solidFill>
                <a:latin typeface="Segoe UI"/>
              </a:rPr>
              <a:t>Referencias:  cursor.com/docs  ·  docs.cursor.com/hooks  ·  cursor.com/marketplace  ·  github.com/colbymchenry/codegraph  ·  github.com/oraios/serena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