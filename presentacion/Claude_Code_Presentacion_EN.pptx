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92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93" r:id="rId15"/>
    <p:sldId id="268" r:id="rId16"/>
    <p:sldId id="269" r:id="rId17"/>
    <p:sldId id="270" r:id="rId18"/>
    <p:sldId id="271" r:id="rId19"/>
    <p:sldId id="294" r:id="rId20"/>
    <p:sldId id="272" r:id="rId21"/>
    <p:sldId id="273" r:id="rId22"/>
    <p:sldId id="274" r:id="rId23"/>
    <p:sldId id="275" r:id="rId24"/>
    <p:sldId id="276" r:id="rId25"/>
    <p:sldId id="278" r:id="rId26"/>
    <p:sldId id="277" r:id="rId27"/>
    <p:sldId id="295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0A915-3F6C-42F1-BEFD-E7D452B2D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A847D-62AE-767A-506C-5A8EFB6B7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DCB44-D827-70F7-D90F-5B32CB1AB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5A4A1-E9E2-C141-4B8D-39BF3B8D4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D3FD0-E752-2CBE-61DA-4CDD5743C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1989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18522-75F0-C278-6E93-CA30104FA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81685-227E-128F-BC30-C654D1E0F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F6B14-04EA-17CE-E42A-397A9E1A2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918F9-0615-71D8-F2DD-54F68CCD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1C4F1-8A9A-2A48-A321-421A432A9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3484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AEF26-2F51-1733-6AEF-9280CC345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14F98-0764-6E60-27B0-5E57ACD5E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0F9B0-CBBD-F94E-C0AC-45DE7901D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837EB-0AF7-9330-C27F-29345A300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37196-10D9-6B4A-82BB-559A03E4A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23814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8FD63-8AE3-DE5A-FE44-E7E2DE1D5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AE664-EC92-D139-38C3-BF9875ED4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CA4A7C-E733-4A5C-C633-B46CF4CFE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747F5-8416-1226-AF77-C55D81D0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98BA7F-CE9B-679C-C711-24692D7AA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716BBC-8845-D159-A31B-2280584EC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63336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75EEF-8BDB-54CC-5182-E4FA9FC46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62F81-3800-3C25-68A7-53FDA1689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88B83-D5D7-8567-F4CA-1EA8CA1A2C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D1231F-2D5A-4A4B-7B98-20C8B5283D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E6405D-3730-BE51-E334-39381A7B3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A5A373-F82D-D329-481E-858FD5A2C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ED4A62-1ECD-D79E-A2CF-DAFAF3AD1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34ADCC-F10D-3B96-6AA4-1AE08DC4F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21587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CFAB5-BB91-A5B9-4766-E5069E4B7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B46227-1E11-2C78-1EA6-4E7B2F2C8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1C9488-4D25-7404-D601-6364700F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BAB07-2F7F-5E12-E069-31D758B37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1521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FA0342-315B-7453-D23E-[account-id]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2AA699-8312-27CC-5D9B-95EBAF1CD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8FD30-2D05-CC48-8E40-8B744AA00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06823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D75ED-58BB-8D92-57C9-C15782B87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E3329-3ED5-1188-B8ED-4E0F986B0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70EC2F-E858-7E41-0A67-F93A4A559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805A0-98F7-499E-B879-4A3F6A44E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11C5C-B1EB-91CA-6B8A-474CC8884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A43C7-32D7-1123-469A-4F6833284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89941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BD34C-52A5-D87E-FCA2-B7FAEA67D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E5D5C2-9925-E6F0-5864-83BC59E7C2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C767EC-03EA-76DA-FD35-B01A3FB0C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5BD7A-913B-7FDB-597B-FC57963CD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9DECF-3DE6-C485-8AFB-936AA698E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E66D9-180C-ED7A-849A-5EB4E5D35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68032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85B79-F01C-804C-4E61-1A47DA438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E67148-1BF1-63D6-C79F-0B92D410BB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FDAD9-7303-C2EC-B274-F1DE2C4F5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927E0-23E6-C7A2-DD58-999844473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75326-E6D1-014A-49FC-94FC2B51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9751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137A79-42D3-4C33-7433-7367718298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6CA469-E72C-78CB-2781-A427579FED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5D210-5A80-BA39-ED14-3A2E0142D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A1660-31E5-9DDB-4167-A5C6CD171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C283F-675B-9C6F-FF2D-0D967C5F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457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646AC-8053-7E85-E5C0-6E3F03E4C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EB08D-2A32-D722-4E7A-1328F035D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3F96A-30B8-B087-4978-186C09D6F1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6CAF03-6D07-473F-9655-B5E7F3C4F9BA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6FEE3-A5A7-6135-A2F0-BED2FD872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AC338-8D5B-F469-A5F7-93410D6A2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3345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928F64C6-FE22-4FC1-A763-DFCC51481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4261224" y="4577975"/>
            <a:ext cx="7539349" cy="1899827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1F85BB-65D7-0B6B-A637-312ABF202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3468" y="4741948"/>
            <a:ext cx="6829520" cy="862031"/>
          </a:xfrm>
        </p:spPr>
        <p:txBody>
          <a:bodyPr>
            <a:norm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Agentic Ai</a:t>
            </a:r>
            <a:br>
              <a:rPr lang="en-US" sz="1600" b="1">
                <a:solidFill>
                  <a:srgbClr val="FFFFFF"/>
                </a:solidFill>
              </a:rPr>
            </a:br>
            <a:br>
              <a:rPr lang="en-US" sz="1600" b="1">
                <a:solidFill>
                  <a:srgbClr val="FFFFFF"/>
                </a:solidFill>
              </a:rPr>
            </a:br>
            <a:r>
              <a:rPr lang="en-US" sz="1600" b="1">
                <a:solidFill>
                  <a:srgbClr val="FFFFFF"/>
                </a:solidFill>
              </a:rPr>
              <a:t>Claude Code: from assistant to agentic developing system</a:t>
            </a:r>
            <a:endParaRPr lang="en-GB" sz="1600">
              <a:solidFill>
                <a:srgbClr val="FFFFFF"/>
              </a:solidFill>
            </a:endParaRPr>
          </a:p>
        </p:txBody>
      </p:sp>
      <p:pic>
        <p:nvPicPr>
          <p:cNvPr id="10" name="Picture 9" descr="Graphify">
            <a:extLst>
              <a:ext uri="{FF2B5EF4-FFF2-40B4-BE49-F238E27FC236}">
                <a16:creationId xmlns:a16="http://schemas.microsoft.com/office/drawing/2014/main" id="{ADFB43AB-A93E-8772-1D14-822EE9B4C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36" y="444074"/>
            <a:ext cx="3797570" cy="17658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C1F2CA2-DE15-47C8-239C-57F5DB9A8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22" y="2422097"/>
            <a:ext cx="2432184" cy="2013804"/>
          </a:xfrm>
          <a:prstGeom prst="rect">
            <a:avLst/>
          </a:prstGeom>
        </p:spPr>
      </p:pic>
      <p:pic>
        <p:nvPicPr>
          <p:cNvPr id="8" name="Picture 7" descr="A white starburst on a red background&#10;&#10;AI-generated content may be incorrect.">
            <a:extLst>
              <a:ext uri="{FF2B5EF4-FFF2-40B4-BE49-F238E27FC236}">
                <a16:creationId xmlns:a16="http://schemas.microsoft.com/office/drawing/2014/main" id="{56B3ADC5-775B-99D8-6DA6-12E101DC34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85" r="2985" b="-4"/>
          <a:stretch>
            <a:fillRect/>
          </a:stretch>
        </p:blipFill>
        <p:spPr>
          <a:xfrm>
            <a:off x="4202549" y="480651"/>
            <a:ext cx="3793472" cy="3793484"/>
          </a:xfrm>
          <a:prstGeom prst="rect">
            <a:avLst/>
          </a:prstGeom>
        </p:spPr>
      </p:pic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5C34627B-48E6-4F4D-B843-97717A86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19934" y="5694097"/>
            <a:ext cx="5486400" cy="0"/>
          </a:xfrm>
          <a:prstGeom prst="line">
            <a:avLst/>
          </a:prstGeom>
          <a:ln w="1587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logo of a machine learning engineer&#10;&#10;AI-generated content may be incorrect.">
            <a:extLst>
              <a:ext uri="{FF2B5EF4-FFF2-40B4-BE49-F238E27FC236}">
                <a16:creationId xmlns:a16="http://schemas.microsoft.com/office/drawing/2014/main" id="{B974484C-9450-0A16-98B9-ED33CB95F57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326" r="12996"/>
          <a:stretch>
            <a:fillRect/>
          </a:stretch>
        </p:blipFill>
        <p:spPr>
          <a:xfrm>
            <a:off x="1281711" y="4525715"/>
            <a:ext cx="1866605" cy="2010551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0B591550-236E-C092-2595-79DBAAF3ABAD}"/>
              </a:ext>
            </a:extLst>
          </p:cNvPr>
          <p:cNvGrpSpPr/>
          <p:nvPr/>
        </p:nvGrpSpPr>
        <p:grpSpPr>
          <a:xfrm>
            <a:off x="8086176" y="737057"/>
            <a:ext cx="3797984" cy="3280672"/>
            <a:chOff x="8086176" y="737057"/>
            <a:chExt cx="3797984" cy="328067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BDF5EB6-DF3D-702D-7DAE-675423396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86176" y="737057"/>
              <a:ext cx="3797984" cy="328067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F4BD6C5-8DF2-E669-7A95-169D1F56A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218841" y="840007"/>
              <a:ext cx="1295581" cy="3238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39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COURSE / WORKSHOP · DEVELOPER TOOLING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6000" b="1">
                <a:solidFill>
                  <a:srgbClr val="E8EAED"/>
                </a:solidFill>
                <a:latin typeface="Segoe UI"/>
              </a:rPr>
              <a:t>Claude Code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600" b="0">
                <a:solidFill>
                  <a:srgbClr val="9AA4B2"/>
                </a:solidFill>
                <a:latin typeface="Segoe UI"/>
              </a:rPr>
              <a:t>from assistant to </a:t>
            </a:r>
            <a:r>
              <a:rPr sz="2600" b="1">
                <a:solidFill>
                  <a:srgbClr val="E8EAED"/>
                </a:solidFill>
                <a:latin typeface="Segoe UI"/>
              </a:rPr>
              <a:t>agentic development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384048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515600" cy="897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dirty="0">
                <a:solidFill>
                  <a:srgbClr val="D97757"/>
                </a:solidFill>
                <a:latin typeface="Segoe UI"/>
              </a:rPr>
              <a:t>PART 1 — 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Claude Code: </a:t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>install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 · memory · </a:t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>context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 &amp; caching · MCP · skills · subagents &amp; teams · </a:t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>automation</a:t>
            </a:r>
            <a:endParaRPr sz="1350" b="0" dirty="0">
              <a:solidFill>
                <a:srgbClr val="9AA4B2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dirty="0">
                <a:solidFill>
                  <a:srgbClr val="7AA2C7"/>
                </a:solidFill>
                <a:latin typeface="Segoe UI"/>
              </a:rPr>
              <a:t>PART 2 — 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The </a:t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>methodology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 (</a:t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>agnostic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): </a:t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>workflow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 with gates · </a:t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>CodeGraph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 / Serena /</a:t>
            </a:r>
            <a:r>
              <a:rPr lang="en-GB" sz="1350" b="0" dirty="0">
                <a:solidFill>
                  <a:srgbClr val="9AA4B2"/>
                </a:solidFill>
                <a:latin typeface="Segoe UI"/>
              </a:rPr>
              <a:t> </a:t>
            </a:r>
            <a:r>
              <a:rPr lang="en-GB" sz="1350" b="0" dirty="0" err="1">
                <a:solidFill>
                  <a:srgbClr val="9AA4B2"/>
                </a:solidFill>
                <a:latin typeface="Segoe UI"/>
              </a:rPr>
              <a:t>Graphify</a:t>
            </a:r>
            <a:r>
              <a:rPr lang="en-GB" sz="1350" b="0" dirty="0">
                <a:solidFill>
                  <a:srgbClr val="9AA4B2"/>
                </a:solidFill>
                <a:latin typeface="Segoe UI"/>
              </a:rPr>
              <a:t> /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 GSD · </a:t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>transfer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 · ops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dirty="0">
                <a:solidFill>
                  <a:srgbClr val="8CC28C"/>
                </a:solidFill>
                <a:latin typeface="Segoe UI"/>
              </a:rPr>
              <a:t>PART 3 — </a:t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>The ticket knowledge graph, built with graphify: pipeline, /kg commands and the real graph</a:t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/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/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/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/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/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/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/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/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/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/>
            </a:r>
            <a:r>
              <a:rPr sz="1350" b="0" dirty="0" err="1">
                <a:solidFill>
                  <a:srgbClr val="9AA4B2"/>
                </a:solidFill>
                <a:latin typeface="Segoe UI"/>
              </a:rPr>
              <a:t/>
            </a:r>
            <a:r>
              <a:rPr sz="1350" b="0" dirty="0">
                <a:solidFill>
                  <a:srgbClr val="9AA4B2"/>
                </a:solidFill>
                <a:latin typeface="Segoe U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6707E"/>
                </a:solidFill>
                <a:latin typeface="Segoe UI"/>
              </a:rPr>
              <a:t>Based on the official docs (code.claude.com), Anthropic's hooks course, GSD, CodeGraph and a real production install.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One course, three parts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PART 1 · Claude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23113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01  Install and basic 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06624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7432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02  Memory, instructions and sessions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18688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255264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03  Context: context window and prompt caching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30752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76732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04  MCP — connect your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42816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27939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05  Plugins, tools and skills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54880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79145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06  Subagents and Agent Teams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66944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3035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07 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78308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PART 2 · The methodology (agnostic)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194560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223113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08  The 11-stage workflow + real example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706624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27432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09  The method's tools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218688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3255264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10  Transfer the methodology (Copilot)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730752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376732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11  Machine sync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34340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PART 3 · The ticket graph (graphify)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754880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479145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12  Design · pipeline · /kg commands · the real graph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266944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20" y="53035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13  Closing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Segoe UI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E8EAED"/>
                </a:solidFill>
                <a:latin typeface="Segoe UI"/>
              </a:rPr>
              <a:t>Claude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60604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A4B2"/>
                </a:solidFill>
                <a:latin typeface="Segoe UI"/>
              </a:rPr>
              <a:t>The tool: from the binary in your terminal to agent teams.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20440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56616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01 · Install and basic 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520440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02 · Memory and sessions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87368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4133087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03 · Context and prompt caching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087368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4133087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04 · MCP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654296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4700016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05 · Plugins, tools and skills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654296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4700016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06 · Subagents and Agent Teams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221224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5266944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07 ·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1">
            <a:extLst>
              <a:ext uri="{FF2B5EF4-FFF2-40B4-BE49-F238E27FC236}">
                <a16:creationId xmlns:a16="http://schemas.microsoft.com/office/drawing/2014/main" id="{E1EF55B5-02EB-859C-3637-47B7C2B3E7F8}"/>
              </a:ext>
            </a:extLst>
          </p:cNvPr>
          <p:cNvSpPr/>
          <p:nvPr/>
        </p:nvSpPr>
        <p:spPr>
          <a:xfrm>
            <a:off x="621792" y="4087369"/>
            <a:ext cx="5353812" cy="155448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01 · INSTALL AND BASIC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Install is one 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1247" y="20756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09397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2082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Native (recommended)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4375404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curl -fsSL https://claude.ai/install.sh | bash — macOS/Linux/WSL, with auto-update.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874519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32804" y="20756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2804" y="209397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202082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Homebrew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331720"/>
            <a:ext cx="4375404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brew install --cask claude-code (brew upgrade to update).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044952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1247" y="324612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326440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191256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Windows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502152"/>
            <a:ext cx="4375404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winget install Anthropic.ClaudeCode · or the PowerShell installer.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3044952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32804" y="324612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32804" y="326440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191256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Linux pkg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502152"/>
            <a:ext cx="4375404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apt / dnf / apk on Debian, Fedora, RHEL, Alpine.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4206237"/>
            <a:ext cx="53949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dirty="0" err="1">
                <a:solidFill>
                  <a:srgbClr val="7AA2C7"/>
                </a:solidFill>
                <a:latin typeface="Segoe UI"/>
              </a:rPr>
              <a:t>Start</a:t>
            </a:r>
            <a:r>
              <a:rPr sz="1400" b="1" dirty="0">
                <a:solidFill>
                  <a:srgbClr val="7AA2C7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7AA2C7"/>
                </a:solidFill>
                <a:latin typeface="Segoe UI"/>
              </a:rPr>
              <a:t>in</a:t>
            </a:r>
            <a:r>
              <a:rPr sz="1400" b="1" dirty="0">
                <a:solidFill>
                  <a:srgbClr val="7AA2C7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7AA2C7"/>
                </a:solidFill>
                <a:latin typeface="Segoe UI"/>
              </a:rPr>
              <a:t>any</a:t>
            </a:r>
            <a:r>
              <a:rPr sz="1400" b="1" dirty="0">
                <a:solidFill>
                  <a:srgbClr val="7AA2C7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7AA2C7"/>
                </a:solidFill>
                <a:latin typeface="Segoe UI"/>
              </a:rPr>
              <a:t>project</a:t>
            </a:r>
            <a:endParaRPr sz="1400" b="1" dirty="0">
              <a:solidFill>
                <a:srgbClr val="7AA2C7"/>
              </a:solidFill>
              <a:latin typeface="Segoe U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7522" y="4663438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dirty="0">
                <a:solidFill>
                  <a:srgbClr val="E8EAED"/>
                </a:solidFill>
                <a:latin typeface="Consolas"/>
              </a:rPr>
              <a:t>cd </a:t>
            </a:r>
            <a:r>
              <a:rPr sz="1150" b="0" dirty="0" err="1">
                <a:solidFill>
                  <a:srgbClr val="E8EAED"/>
                </a:solidFill>
                <a:latin typeface="Consolas"/>
              </a:rPr>
              <a:t>your-project</a:t>
            </a:r>
            <a:endParaRPr sz="1150" b="0" dirty="0">
              <a:solidFill>
                <a:srgbClr val="E8EAED"/>
              </a:solidFill>
              <a:latin typeface="Consolas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dirty="0" err="1">
                <a:solidFill>
                  <a:srgbClr val="E8EAED"/>
                </a:solidFill>
                <a:latin typeface="Consolas"/>
              </a:rPr>
              <a:t>claude</a:t>
            </a:r>
            <a:r>
              <a:rPr sz="1150" b="0" dirty="0">
                <a:solidFill>
                  <a:srgbClr val="E8EAED"/>
                </a:solidFill>
                <a:latin typeface="Consolas"/>
              </a:rPr>
              <a:t>            # login the 1st </a:t>
            </a:r>
            <a:r>
              <a:rPr sz="1150" b="0" dirty="0" err="1">
                <a:solidFill>
                  <a:srgbClr val="E8EAED"/>
                </a:solidFill>
                <a:latin typeface="Consolas"/>
              </a:rPr>
              <a:t>time</a:t>
            </a:r>
            <a:endParaRPr sz="1150" b="0" dirty="0">
              <a:solidFill>
                <a:srgbClr val="E8EAED"/>
              </a:solidFill>
              <a:latin typeface="Consola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217920" y="4078222"/>
            <a:ext cx="5257800" cy="155448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55664" y="4174233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7AA2C7"/>
                </a:solidFill>
                <a:latin typeface="Segoe UI"/>
              </a:rPr>
              <a:t>The </a:t>
            </a:r>
            <a:r>
              <a:rPr sz="1400" b="1" dirty="0" err="1">
                <a:solidFill>
                  <a:srgbClr val="7AA2C7"/>
                </a:solidFill>
                <a:latin typeface="Segoe UI"/>
              </a:rPr>
              <a:t>same</a:t>
            </a:r>
            <a:r>
              <a:rPr sz="1400" b="1" dirty="0">
                <a:solidFill>
                  <a:srgbClr val="7AA2C7"/>
                </a:solidFill>
                <a:latin typeface="Segoe UI"/>
              </a:rPr>
              <a:t> engine </a:t>
            </a:r>
            <a:r>
              <a:rPr sz="1400" b="1" dirty="0" err="1">
                <a:solidFill>
                  <a:srgbClr val="7AA2C7"/>
                </a:solidFill>
                <a:latin typeface="Segoe UI"/>
              </a:rPr>
              <a:t>in</a:t>
            </a:r>
            <a:r>
              <a:rPr sz="1400" b="1" dirty="0">
                <a:solidFill>
                  <a:srgbClr val="7AA2C7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7AA2C7"/>
                </a:solidFill>
                <a:latin typeface="Segoe UI"/>
              </a:rPr>
              <a:t>all</a:t>
            </a:r>
            <a:r>
              <a:rPr sz="1400" b="1" dirty="0">
                <a:solidFill>
                  <a:srgbClr val="7AA2C7"/>
                </a:solidFill>
                <a:latin typeface="Segoe UI"/>
              </a:rPr>
              <a:t> parts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9380" y="4608573"/>
            <a:ext cx="4754880" cy="731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dirty="0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 dirty="0">
                <a:solidFill>
                  <a:srgbClr val="E8EAED"/>
                </a:solidFill>
                <a:latin typeface="Segoe UI"/>
              </a:rPr>
              <a:t>Terminal · VS Code / Cursor · JetBrains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dirty="0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 dirty="0">
                <a:solidFill>
                  <a:srgbClr val="E8EAED"/>
                </a:solidFill>
                <a:latin typeface="Segoe UI"/>
              </a:rPr>
              <a:t>Desktop (diffs, </a:t>
            </a:r>
            <a:r>
              <a:rPr sz="1150" b="0" dirty="0" err="1">
                <a:solidFill>
                  <a:srgbClr val="E8EAED"/>
                </a:solidFill>
                <a:latin typeface="Segoe UI"/>
              </a:rPr>
              <a:t>sessions</a:t>
            </a:r>
            <a:r>
              <a:rPr sz="1150" b="0" dirty="0">
                <a:solidFill>
                  <a:srgbClr val="E8EAED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E8EAED"/>
                </a:solidFill>
                <a:latin typeface="Segoe UI"/>
              </a:rPr>
              <a:t>in</a:t>
            </a:r>
            <a:r>
              <a:rPr sz="1150" b="0" dirty="0">
                <a:solidFill>
                  <a:srgbClr val="E8EAED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E8EAED"/>
                </a:solidFill>
                <a:latin typeface="Segoe UI"/>
              </a:rPr>
              <a:t>parallel</a:t>
            </a:r>
            <a:r>
              <a:rPr sz="1150" b="0" dirty="0">
                <a:solidFill>
                  <a:srgbClr val="E8EAED"/>
                </a:solidFill>
                <a:latin typeface="Segoe UI"/>
              </a:rPr>
              <a:t>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dirty="0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 dirty="0">
                <a:solidFill>
                  <a:srgbClr val="E8EAED"/>
                </a:solidFill>
                <a:latin typeface="Segoe UI"/>
              </a:rPr>
              <a:t>Web (claude.ai/code, </a:t>
            </a:r>
            <a:r>
              <a:rPr sz="1150" b="0" dirty="0" err="1">
                <a:solidFill>
                  <a:srgbClr val="E8EAED"/>
                </a:solidFill>
                <a:latin typeface="Segoe UI"/>
              </a:rPr>
              <a:t>tasks</a:t>
            </a:r>
            <a:r>
              <a:rPr sz="1150" b="0" dirty="0">
                <a:solidFill>
                  <a:srgbClr val="E8EAED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E8EAED"/>
                </a:solidFill>
                <a:latin typeface="Segoe UI"/>
              </a:rPr>
              <a:t>long</a:t>
            </a:r>
            <a:r>
              <a:rPr sz="1150" b="0" dirty="0">
                <a:solidFill>
                  <a:srgbClr val="E8EAED"/>
                </a:solidFill>
                <a:latin typeface="Segoe UI"/>
              </a:rPr>
              <a:t>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Installing is trivial; the value is in how you use it.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01 · INSTALL AND BASIC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Two modes: interactive and headless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7568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Interactive — thinking with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7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You open `claude` and talk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 mode: it proposes a plan and you approve before touching anything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Ideal for exploring, designing, debugging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07568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Headless (-p) — composable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32887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One prompt: in via stdin, out via stdout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Fits Unix pipes and CI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foundation of all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06824"/>
            <a:ext cx="10927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The same Claude, two ways to invoke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17720"/>
            <a:ext cx="10927080" cy="100584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4800600"/>
            <a:ext cx="104698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tail -200 app.log | claude -p "flag any anomalies you see"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git diff main --name-only | claude -p "review these files for security"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02 · MEMORY AND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CLAUDE.md: the two-tier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49240" cy="27432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7568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Tier 1 — always loaded (small)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7"/>
            <a:ext cx="48463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Minimal orientation: what the project is, repo map, commands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Only one-line POINTERS to everything else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It's the agent's 30s onboarding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Write-once rule: the core points, doesn't copy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49240" cy="27432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07568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Tier 2 — on demand (the detail)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32887"/>
            <a:ext cx="48463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data/changes/STATUS.md — live state per ticket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PLAYBOOK.md — debugging lessons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SHARP_EDGES.md — 'do not touch' invariants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&lt;TICKET&gt;/&lt;TICKET&gt;.md — ~55 self-contained ledgers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We cut CLAUDE.md ~73% with no information loss: pointers, not copies.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02 · INSTRUCTIONS, PERMISSIONS AND AUTO-MEMORY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Hierarchy, permissions and automatic 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55063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CLAUDE.md hierarchy (they combine; @file imports)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5486400" cy="201168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148840"/>
            <a:ext cx="502920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~/.claude/CLAUDE.md      # user global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&lt;repo&gt;/CLAUDE.md         # shared (versioned)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&lt;repo&gt;/sub/CLAUDE.md     # on entering the subfolder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&lt;repo&gt;/CLAUDE.local.md   # personal, not versioned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64208"/>
            <a:ext cx="5166360" cy="233172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865376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Permissions = specific allowlist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22576"/>
            <a:ext cx="466344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settings.json: allow / deny / ask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Concrete rules, not Bash(*)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mcp__serena__find_symbol, exact pytest…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human owns push/PR/deploy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60520"/>
            <a:ext cx="10927080" cy="141732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361688"/>
            <a:ext cx="10469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Auto-memory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18888"/>
            <a:ext cx="1042415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Claude stores learnings (build commands, debug hints) across sessions without you writing anything.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02 · 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Sessions that travel across surfaces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5335524" cy="10058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1247" y="216712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185415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1226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Teleport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23160"/>
            <a:ext cx="43754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claude --teleport brings a web/mobile session to the terminal.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965960"/>
            <a:ext cx="5335524" cy="10058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32804" y="216712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2804" y="2185415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211226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Remote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423160"/>
            <a:ext cx="43754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Follow a local session from your phone or any browser.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27832"/>
            <a:ext cx="5335524" cy="10058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1247" y="342900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344728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74136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Desktop handoff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85032"/>
            <a:ext cx="43754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/desktop hands the session to Desktop to review diffs.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3227832"/>
            <a:ext cx="5335524" cy="10058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32804" y="342900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32804" y="344728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374136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Channels / Slack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85032"/>
            <a:ext cx="43754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Push external events or turn a Slack bug into a PR.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The same engine and the same CLAUDE.md/settings/MCP across all surfaces.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03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Context window: the resource that governs everything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694944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865376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System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65376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~4,200 tokens — hidden, always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865376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fixed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359152"/>
            <a:ext cx="694944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39572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Auto-memory + environment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39572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~680 + ~280 tokens at startup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395728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fixed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889504"/>
            <a:ext cx="694944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29260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MCP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9260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index ~120 tokens; the schema, on tool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926080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per server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19856"/>
            <a:ext cx="694944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45643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Your CLAUDE.md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45643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whatever you decide — hence the two-tier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456432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you decide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50208"/>
            <a:ext cx="694944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398678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Conversation + tool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986784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files read, command output… grows every turn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986784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grows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1837944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The controls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2148840"/>
            <a:ext cx="3703320" cy="233172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19871" y="2331720"/>
            <a:ext cx="3246120" cy="2011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/context   # usage breakdown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/compact focus on the API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/clear     # reset between tasks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/rewind    # checkpoints (Esc+Esc)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61772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AED"/>
                </a:solidFill>
                <a:latin typeface="Segoe UI"/>
              </a:rPr>
              <a:t>Window: 200K tokens (1M in beta via API). </a:t>
            </a:r>
            <a:r>
              <a:rPr sz="1200" b="0">
                <a:solidFill>
                  <a:srgbClr val="9AA4B2"/>
                </a:solidFill>
                <a:latin typeface="Segoe UI"/>
              </a:rPr>
              <a:t>Performance degrades BEFORE it fills: noisy context = worse decisions. Auto-compact fires near the limit and is lossy — better a focused manual /compact.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Measure with /context before optimizing: it tells you exactly which block bloats.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03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Context hygiene: maximum signal per token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1247" y="202996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04825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7510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Minimal CLAUDE.md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286000"/>
            <a:ext cx="43754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Official rule: if you can delete it without Claude going wrong, delete it. Two tiers + pointers.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828800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32804" y="202996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2804" y="204825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197510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Loads on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286000"/>
            <a:ext cx="43754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@imports and subfolder CLAUDE.md load only when needed. Detail lives outside.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63824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1247" y="3364992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3383280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10128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MCP in moderation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21024"/>
            <a:ext cx="43754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Each server adds its tools block. Disable the ones the project doesn't use.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3163824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32804" y="3364992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32804" y="3383280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310128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Subagents for investigation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21024"/>
            <a:ext cx="43754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Dirty exploration goes to a subagent (section 06); only the summary returns.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98848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41247" y="4700016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7" y="4718304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645152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Explore → Plan → 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956048"/>
            <a:ext cx="43754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Separates exploration (plan mode) from implementation; the noise doesn't move in.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4498848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432804" y="4700016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32804" y="4718304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4596" y="4645152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Targeted reads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4596" y="4956048"/>
            <a:ext cx="43754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“read config/auth.js” &gt; “understand the auth”. Preview: CodeGraph-first (Part 2).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Part 2's tool precedence is, at bottom, context policy.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03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Prompt caching: don't pay for the same thing twice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27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AA4B2"/>
                </a:solidFill>
                <a:latin typeface="Segoe UI"/>
              </a:rPr>
              <a:t>Every turn resends ALL context. The API caches the stable prefix — strict order </a:t>
            </a:r>
            <a:r>
              <a:rPr sz="1250" b="1">
                <a:solidFill>
                  <a:srgbClr val="D97757"/>
                </a:solidFill>
                <a:latin typeface="Consolas"/>
              </a:rPr>
              <a:t>Tools → System → Messages</a:t>
            </a:r>
            <a:r>
              <a:rPr sz="1250" b="0">
                <a:solidFill>
                  <a:srgbClr val="9AA4B2"/>
                </a:solidFill>
                <a:latin typeface="Segoe UI"/>
              </a:rPr>
              <a:t>: a change invalidates its level and all after.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77440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4231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TTL 5 min (default)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42316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write 1.25×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42316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read 0.1×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26080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9718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TTL 1 hour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9718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write 2×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9718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read 0.1×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11880"/>
            <a:ext cx="53492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A 50-turn session re-reads the prefix 50 times at 0.1× — </a:t>
            </a:r>
            <a:r>
              <a:rPr sz="1200" b="1">
                <a:solidFill>
                  <a:srgbClr val="8CC28C"/>
                </a:solidFill>
                <a:latin typeface="Segoe UI"/>
              </a:rPr>
              <a:t>that's the discount that makes long sessions viable.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Cacheable minimum ~1k tokens · max 4 breakpoints · diagnosis in usage.cache_read_input_tokens.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066544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Stable first; the breakpoint at the end of the stable part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377440"/>
            <a:ext cx="5349240" cy="265176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2560320"/>
            <a:ext cx="4892040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system=[{ "type": "text",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"text": STABLE_INSTRUCTIONS,   # stable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"cache_control":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{"type": "ephemeral"} }]   # breakpoint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messages=[{"role": "user",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"content": query }]  # variable: OUTSIDE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classic mistake: timestamp BEFORE the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breakpoint -&gt; 0 hits and nobody knows why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Runnable demo: ejemplos/prompt-caching/cache_demo.py — watch the cache counters.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03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Caching in Claude Code: you decide the hit-rate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73152" cy="530352"/>
          </a:xfrm>
          <a:prstGeom prst="roundRect">
            <a:avLst>
              <a:gd name="adj" fmla="val 50000"/>
            </a:avLst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920239"/>
            <a:ext cx="4206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Small, stable CLAUDE.md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920239"/>
            <a:ext cx="6217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Short prefix that never changes → hits every turn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96312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2496312"/>
            <a:ext cx="73152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542032"/>
            <a:ext cx="4206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Editing CLAUDE.md/settings mid-session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542032"/>
            <a:ext cx="6217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Change the prefix → invalidates cache from there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18104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3118104"/>
            <a:ext cx="73152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163824"/>
            <a:ext cx="4206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Many active MCP servers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163824"/>
            <a:ext cx="6217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Large, changing tools block → expensive writes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39896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" y="3739896"/>
            <a:ext cx="73152" cy="530352"/>
          </a:xfrm>
          <a:prstGeom prst="roundRect">
            <a:avLst>
              <a:gd name="adj" fmla="val 50000"/>
            </a:avLst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3785615"/>
            <a:ext cx="4206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Long session, frequent turns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785615"/>
            <a:ext cx="6217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History is re-read at 0.1× — the ideal case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361688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4361688"/>
            <a:ext cx="73152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407407"/>
            <a:ext cx="4206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/compact or auto-compact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4407407"/>
            <a:ext cx="6217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Rewrites history → breaks the message cache once, then continues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047488"/>
            <a:ext cx="10927080" cy="5533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dirty="0">
                <a:solidFill>
                  <a:srgbClr val="9AA4B2"/>
                </a:solidFill>
                <a:latin typeface="Segoe UI"/>
              </a:rPr>
              <a:t>Claude Code </a:t>
            </a:r>
            <a:r>
              <a:rPr sz="1100" b="0" dirty="0" err="1">
                <a:solidFill>
                  <a:srgbClr val="9AA4B2"/>
                </a:solidFill>
                <a:latin typeface="Segoe UI"/>
              </a:rPr>
              <a:t>applies it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 alone (system + tools + </a:t>
            </a:r>
            <a:r>
              <a:rPr sz="1100" b="0" dirty="0" err="1">
                <a:solidFill>
                  <a:srgbClr val="9AA4B2"/>
                </a:solidFill>
                <a:latin typeface="Segoe UI"/>
              </a:rPr>
              <a:t>history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 = </a:t>
            </a:r>
            <a:r>
              <a:rPr sz="1100" b="0" dirty="0" err="1">
                <a:solidFill>
                  <a:srgbClr val="9AA4B2"/>
                </a:solidFill>
                <a:latin typeface="Segoe UI"/>
              </a:rPr>
              <a:t>prefix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). </a:t>
            </a:r>
            <a:r>
              <a:rPr sz="1100" b="1" dirty="0">
                <a:solidFill>
                  <a:srgbClr val="E8EAED"/>
                </a:solidFill>
                <a:latin typeface="Segoe UI"/>
              </a:rPr>
              <a:t>TTL </a:t>
            </a:r>
            <a:r>
              <a:rPr sz="1100" b="1" dirty="0" err="1">
                <a:solidFill>
                  <a:srgbClr val="E8EAED"/>
                </a:solidFill>
                <a:latin typeface="Segoe UI"/>
              </a:rPr>
              <a:t>by</a:t>
            </a:r>
            <a:r>
              <a:rPr sz="1100" b="1" dirty="0">
                <a:solidFill>
                  <a:srgbClr val="E8EAED"/>
                </a:solidFill>
                <a:latin typeface="Segoe UI"/>
              </a:rPr>
              <a:t> </a:t>
            </a:r>
            <a:r>
              <a:rPr sz="1100" b="1" dirty="0" err="1">
                <a:solidFill>
                  <a:srgbClr val="E8EAED"/>
                </a:solidFill>
                <a:latin typeface="Segoe UI"/>
              </a:rPr>
              <a:t>default</a:t>
            </a:r>
            <a:r>
              <a:rPr sz="1100" b="1" dirty="0">
                <a:solidFill>
                  <a:srgbClr val="E8EAED"/>
                </a:solidFill>
                <a:latin typeface="Segoe UI"/>
              </a:rPr>
              <a:t>: 1 h with </a:t>
            </a:r>
            <a:r>
              <a:rPr sz="1100" b="1" dirty="0" err="1">
                <a:solidFill>
                  <a:srgbClr val="E8EAED"/>
                </a:solidFill>
                <a:latin typeface="Segoe UI"/>
              </a:rPr>
              <a:t>subscription</a:t>
            </a:r>
            <a:r>
              <a:rPr sz="1100" b="1" dirty="0">
                <a:solidFill>
                  <a:srgbClr val="E8EAED"/>
                </a:solidFill>
                <a:latin typeface="Segoe UI"/>
              </a:rPr>
              <a:t> · 5 min with API key. 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Change/</a:t>
            </a:r>
            <a:r>
              <a:rPr sz="1100" b="0" dirty="0" err="1">
                <a:solidFill>
                  <a:srgbClr val="9AA4B2"/>
                </a:solidFill>
                <a:latin typeface="Segoe UI"/>
              </a:rPr>
              <a:t>disable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9AA4B2"/>
                </a:solidFill>
                <a:latin typeface="Segoe UI"/>
              </a:rPr>
              <a:t>by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 env var: </a:t>
            </a:r>
            <a:r>
              <a:rPr sz="1050" b="0" dirty="0">
                <a:solidFill>
                  <a:srgbClr val="D97757"/>
                </a:solidFill>
                <a:latin typeface="Consolas"/>
              </a:rPr>
              <a:t>ENABLE_PROMPT_CACHING_1H · FORCE_PROMPT_CACHING_5M · DISABLE_PROMPT_CACHING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. Each </a:t>
            </a:r>
            <a:r>
              <a:rPr sz="1100" b="0" dirty="0" err="1">
                <a:solidFill>
                  <a:srgbClr val="9AA4B2"/>
                </a:solidFill>
                <a:latin typeface="Segoe UI"/>
              </a:rPr>
              <a:t>each read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9AA4B2"/>
                </a:solidFill>
                <a:latin typeface="Segoe UI"/>
              </a:rPr>
              <a:t>renews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 the </a:t>
            </a:r>
            <a:r>
              <a:rPr sz="1100" b="0" dirty="0" err="1">
                <a:solidFill>
                  <a:srgbClr val="9AA4B2"/>
                </a:solidFill>
                <a:latin typeface="Segoe UI"/>
              </a:rPr>
              <a:t>window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: with </a:t>
            </a:r>
            <a:r>
              <a:rPr sz="1100" b="0" dirty="0" err="1">
                <a:solidFill>
                  <a:srgbClr val="9AA4B2"/>
                </a:solidFill>
                <a:latin typeface="Segoe UI"/>
              </a:rPr>
              <a:t>subscription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, </a:t>
            </a:r>
            <a:r>
              <a:rPr sz="1100" b="0" dirty="0" err="1">
                <a:solidFill>
                  <a:srgbClr val="9AA4B2"/>
                </a:solidFill>
                <a:latin typeface="Segoe UI"/>
              </a:rPr>
              <a:t>one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 pause of up to 1 h </a:t>
            </a:r>
            <a:r>
              <a:rPr sz="1100" b="0" dirty="0" err="1">
                <a:solidFill>
                  <a:srgbClr val="9AA4B2"/>
                </a:solidFill>
                <a:latin typeface="Segoe UI"/>
              </a:rPr>
              <a:t>continues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 </a:t>
            </a:r>
            <a:r>
              <a:rPr lang="en-GB" sz="1100" b="0" dirty="0" err="1">
                <a:solidFill>
                  <a:srgbClr val="9AA4B2"/>
                </a:solidFill>
                <a:latin typeface="Segoe UI"/>
              </a:rPr>
              <a:t>in</a:t>
            </a:r>
            <a:r>
              <a:rPr lang="en-GB" sz="1100" b="0" dirty="0">
                <a:solidFill>
                  <a:srgbClr val="9AA4B2"/>
                </a:solidFill>
                <a:latin typeface="Segoe UI"/>
              </a:rPr>
              <a:t> cache</a:t>
            </a:r>
            <a:r>
              <a:rPr sz="1100" b="0" dirty="0">
                <a:solidFill>
                  <a:srgbClr val="9AA4B2"/>
                </a:solidFill>
                <a:latin typeface="Segoe UI"/>
              </a:rPr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944156"/>
            <a:ext cx="1060704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 dirty="0" err="1">
                <a:solidFill>
                  <a:srgbClr val="E8EAED"/>
                </a:solidFill>
                <a:latin typeface="Segoe UI"/>
              </a:rPr>
              <a:t>Lean, stable context performs better AND costs less: two tiers optimize both axes at once.</a:t>
            </a:r>
            <a:r>
              <a:rPr sz="1250" b="0" dirty="0">
                <a:solidFill>
                  <a:srgbClr val="E8EAED"/>
                </a:solidFill>
                <a:latin typeface="Segoe UI"/>
              </a:rPr>
              <a:t/>
            </a:r>
            <a:r>
              <a:rPr lang="en-GB" sz="1250" b="0" dirty="0">
                <a:solidFill>
                  <a:srgbClr val="E8EAED"/>
                </a:solidFill>
                <a:latin typeface="Segoe UI"/>
              </a:rPr>
              <a:t/>
            </a:r>
            <a:r>
              <a:rPr lang="en-GB" sz="1250" b="0" dirty="0" err="1">
                <a:solidFill>
                  <a:srgbClr val="E8EAED"/>
                </a:solidFill>
                <a:latin typeface="Segoe UI"/>
              </a:rPr>
              <a:t/>
            </a:r>
            <a:r>
              <a:rPr lang="en-GB" sz="1250" b="0" dirty="0">
                <a:solidFill>
                  <a:srgbClr val="E8EAED"/>
                </a:solidFill>
                <a:latin typeface="Segoe UI"/>
              </a:rPr>
              <a:t/>
            </a:r>
            <a:r>
              <a:rPr sz="1250" b="0" dirty="0">
                <a:solidFill>
                  <a:srgbClr val="E8EAED"/>
                </a:solidFill>
                <a:latin typeface="Segoe UI"/>
              </a:rPr>
              <a:t/>
            </a:r>
            <a:r>
              <a:rPr lang="en-GB" sz="1250" b="0" dirty="0">
                <a:solidFill>
                  <a:srgbClr val="E8EAED"/>
                </a:solidFill>
                <a:latin typeface="Segoe UI"/>
              </a:rPr>
              <a:t/>
            </a:r>
            <a:r>
              <a:rPr sz="1250" b="0" dirty="0">
                <a:solidFill>
                  <a:srgbClr val="E8EAED"/>
                </a:solidFill>
                <a:latin typeface="Segoe UI"/>
              </a:rPr>
              <a:t/>
            </a:r>
            <a:r>
              <a:rPr lang="en-GB" sz="1250" b="0" dirty="0" err="1">
                <a:solidFill>
                  <a:srgbClr val="E8EAED"/>
                </a:solidFill>
                <a:latin typeface="Segoe UI"/>
              </a:rPr>
              <a:t/>
            </a:r>
            <a:r>
              <a:rPr lang="en-GB" sz="1250" b="0" dirty="0">
                <a:solidFill>
                  <a:srgbClr val="E8EAED"/>
                </a:solidFill>
                <a:latin typeface="Segoe UI"/>
              </a:rPr>
              <a:t/>
            </a:r>
            <a:r>
              <a:rPr lang="en-GB" sz="1250" b="0" dirty="0" err="1">
                <a:solidFill>
                  <a:srgbClr val="E8EAED"/>
                </a:solidFill>
                <a:latin typeface="Segoe UI"/>
              </a:rPr>
              <a:t/>
            </a:r>
            <a:r>
              <a:rPr lang="en-GB" sz="1250" b="0" dirty="0">
                <a:solidFill>
                  <a:srgbClr val="E8EAED"/>
                </a:solidFill>
                <a:latin typeface="Segoe UI"/>
              </a:rPr>
              <a:t/>
            </a:r>
            <a:r>
              <a:rPr sz="1250" b="0" dirty="0" err="1">
                <a:solidFill>
                  <a:srgbClr val="E8EAED"/>
                </a:solidFill>
                <a:latin typeface="Segoe UI"/>
              </a:rPr>
              <a:t/>
            </a:r>
            <a:r>
              <a:rPr sz="1250" b="0" dirty="0">
                <a:solidFill>
                  <a:srgbClr val="E8EAED"/>
                </a:solidFill>
                <a:latin typeface="Segoe UI"/>
              </a:rPr>
              <a:t/>
            </a:r>
            <a:r>
              <a:rPr sz="1250" b="0" dirty="0" err="1">
                <a:solidFill>
                  <a:srgbClr val="E8EAED"/>
                </a:solidFill>
                <a:latin typeface="Segoe UI"/>
              </a:rPr>
              <a:t/>
            </a:r>
            <a:r>
              <a:rPr sz="1250" b="0" dirty="0">
                <a:solidFill>
                  <a:srgbClr val="E8EAED"/>
                </a:solidFill>
                <a:latin typeface="Segoe UI"/>
              </a:rPr>
              <a:t/>
            </a:r>
            <a:r>
              <a:rPr sz="1250" b="0" dirty="0" err="1">
                <a:solidFill>
                  <a:srgbClr val="E8EAED"/>
                </a:solidFill>
                <a:latin typeface="Segoe UI"/>
              </a:rPr>
              <a:t/>
            </a:r>
            <a:r>
              <a:rPr sz="1250" b="0" dirty="0">
                <a:solidFill>
                  <a:srgbClr val="E8EAED"/>
                </a:solidFill>
                <a:latin typeface="Segoe UI"/>
              </a:rPr>
              <a:t/>
            </a:r>
            <a:r>
              <a:rPr lang="en-GB" sz="1250" b="0" dirty="0">
                <a:solidFill>
                  <a:srgbClr val="E8EAED"/>
                </a:solidFill>
                <a:latin typeface="Segoe UI"/>
              </a:rPr>
              <a:t/>
            </a:r>
            <a:r>
              <a:rPr sz="1250" b="0" dirty="0">
                <a:solidFill>
                  <a:srgbClr val="E8EAED"/>
                </a:solidFill>
                <a:latin typeface="Segoe UI"/>
              </a:rPr>
              <a:t/>
            </a:r>
            <a:r>
              <a:rPr sz="1250" b="0" dirty="0" err="1">
                <a:solidFill>
                  <a:srgbClr val="E8EAED"/>
                </a:solidFill>
                <a:latin typeface="Segoe UI"/>
              </a:rPr>
              <a:t/>
            </a:r>
            <a:r>
              <a:rPr sz="1250" b="0" dirty="0">
                <a:solidFill>
                  <a:srgbClr val="E8EAED"/>
                </a:solidFill>
                <a:latin typeface="Segoe UI"/>
              </a:rPr>
              <a:t/>
            </a:r>
            <a:r>
              <a:rPr sz="1250" b="0" dirty="0" err="1">
                <a:solidFill>
                  <a:srgbClr val="E8EAED"/>
                </a:solidFill>
                <a:latin typeface="Segoe UI"/>
              </a:rPr>
              <a:t/>
            </a:r>
            <a:r>
              <a:rPr sz="1250" b="0" dirty="0">
                <a:solidFill>
                  <a:srgbClr val="E8EAED"/>
                </a:solidFill>
                <a:latin typeface="Segoe UI"/>
              </a:rPr>
              <a:t/>
            </a:r>
            <a:r>
              <a:rPr sz="1250" b="0" dirty="0" err="1">
                <a:solidFill>
                  <a:srgbClr val="E8EAED"/>
                </a:solidFill>
                <a:latin typeface="Segoe UI"/>
              </a:rPr>
              <a:t/>
            </a:r>
            <a:r>
              <a:rPr sz="1250" b="0" dirty="0">
                <a:solidFill>
                  <a:srgbClr val="E8EAED"/>
                </a:solidFill>
                <a:latin typeface="Segoe UI"/>
              </a:rPr>
              <a:t/>
            </a:r>
            <a:r>
              <a:rPr sz="1250" b="0" dirty="0" err="1">
                <a:solidFill>
                  <a:srgbClr val="E8EAED"/>
                </a:solidFill>
                <a:latin typeface="Segoe UI"/>
              </a:rPr>
              <a:t/>
            </a:r>
            <a:r>
              <a:rPr sz="1250" b="0" dirty="0">
                <a:solidFill>
                  <a:srgbClr val="E8EAED"/>
                </a:solidFill>
                <a:latin typeface="Segoe UI"/>
              </a:rPr>
              <a:t/>
            </a:r>
            <a:r>
              <a:rPr sz="1250" b="0" dirty="0" err="1">
                <a:solidFill>
                  <a:srgbClr val="E8EAED"/>
                </a:solidFill>
                <a:latin typeface="Segoe UI"/>
              </a:rPr>
              <a:t/>
            </a:r>
            <a:r>
              <a:rPr sz="1250" b="0" dirty="0">
                <a:solidFill>
                  <a:srgbClr val="E8EAED"/>
                </a:solidFill>
                <a:latin typeface="Segoe UI"/>
              </a:rPr>
              <a:t/>
            </a:r>
            <a:r>
              <a:rPr sz="1300" b="1" dirty="0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04 ·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Model Context Protocol: connect your world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27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AA4B2"/>
                </a:solidFill>
                <a:latin typeface="Segoe UI"/>
              </a:rPr>
              <a:t>Open standard to plug Claude into external data and tools. Tools appear as </a:t>
            </a:r>
            <a:r>
              <a:rPr sz="1250" b="1">
                <a:solidFill>
                  <a:srgbClr val="D97757"/>
                </a:solidFill>
                <a:latin typeface="Consolas"/>
              </a:rPr>
              <a:t>mcp__&lt;server&gt;__&lt;tool&gt;</a:t>
            </a:r>
            <a:r>
              <a:rPr sz="1250" b="0">
                <a:solidFill>
                  <a:srgbClr val="9AA4B2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1247" y="25328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255117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7802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Local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788920"/>
            <a:ext cx="4375404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.claude/settings.local.json — only you, this machine.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2331720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32804" y="25328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32804" y="255117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47802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Project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4596" y="2788920"/>
            <a:ext cx="4375404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.mcp.json at the root, versioned, shared with the team.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02152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41247" y="370332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372160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48456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User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959352"/>
            <a:ext cx="4375404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~/.claude.json — all your projects.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1636" y="3502152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32804" y="370332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32804" y="372160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48456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Servers I 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4596" y="3959352"/>
            <a:ext cx="4375404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serena · context7 · playwright · codegraph · supabase.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15384"/>
            <a:ext cx="10927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Add a server (secrets via env var; each server adds context — section 03)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526280"/>
            <a:ext cx="10927080" cy="105156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6112" y="4709160"/>
            <a:ext cx="10469880" cy="731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claude mcp add --transport http context7 https://mcp.context7.com/mcp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claude mcp list      # status      /mcp   # OAuth auth and tools in-session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05 · PLUGINS, TOOLS AND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Four layers of extensibility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35524" cy="105156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1247" y="20756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09397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2082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4375404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What Claude can do: Read/Edit/Bash/Grep/Task + mcp__*. Governed by permissions.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874519"/>
            <a:ext cx="5335524" cy="105156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32804" y="20756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2804" y="209397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202082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Slash commands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331720"/>
            <a:ext cx="4375404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.claude/commands/x.md = /x. The body is the prompt. You invoke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82111"/>
            <a:ext cx="5335524" cy="105156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1247" y="3383279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340156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28415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39311"/>
            <a:ext cx="4375404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.claude/skills/x/SKILL.md with description. Claude auto-selects it; carries scripts/templates.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3182111"/>
            <a:ext cx="5335524" cy="105156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32804" y="3383279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32804" y="340156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328415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Plugins + marketplace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39311"/>
            <a:ext cx="4375404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Bundle skills+commands+agents+MCP+hooks. /plugin install. GSD is one.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3434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7AA2C7"/>
                </a:solidFill>
                <a:latin typeface="Segoe UI"/>
              </a:rPr>
              <a:t>The 5th layer — subagents and agent teams — deserves its own section: it's next.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Slash command = shortcut you invoke. Skill = capability Claude decides to use. Plugin = the distribution.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06 · SUBAGENTS AND AGENT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Subagents: noise dies outside your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01168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Built-ins (Task tool)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Explore — read-only search across the codebase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 — design the strategy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general-purpose — multi-step, all tools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In parallel for independent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37944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Custom: a .md with frontmatter (/agents lists them)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5349240" cy="237744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2331720"/>
            <a:ext cx="4892040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.claude/agents/security-reviewer.md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---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name: security-reviewer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description: Reviews vulnerabilities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after changes to auth or deps.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tools: Read, Grep, Glob, Bash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model: opus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---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You are a senior security engineer…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77639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178807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What you need to know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36007"/>
            <a:ext cx="4846320" cy="731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ISOLATED context: only the summary returns to your session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Does NOT inherit your conversation: context in the prompt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description = auto-selection · tools = own allowlist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Real examples in ejemplos/subagents/: security-reviewer and refactor-scout (CodeGraph→Serena rule).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06 · SUBAGENTS AND AGENT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Agent Teams: several Claudes coordinating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37744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The architecture (experimental)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Lead + teammates: each one a full SESSION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Shared task list: ~/.claude/tasks/&lt;team&gt;/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Direct messaging between teammates (inboxes)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They can debate findings, not just report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Roles = your custom subagents reused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37944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Enable (off by default)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2331720"/>
            <a:ext cx="4892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// ~/.claude/settings.json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{ "env": { "CLAUDE_CODE_EXPERIMENTAL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_AGENT_TEAMS": "1" },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"teammateMode": "in-process" }  // tmux|iterm2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86200"/>
            <a:ext cx="5349240" cy="164592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408736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Limits 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544568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No in-process /resume · one team per session · no nesting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Split-panes require tmux or iTerm2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Cost: each teammate is a full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5349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AA4B2"/>
                </a:solidFill>
                <a:latin typeface="Segoe UI"/>
              </a:rPr>
              <a:t>You ask in natural language: </a:t>
            </a:r>
            <a:r>
              <a:rPr sz="1150" b="0">
                <a:solidFill>
                  <a:srgbClr val="E8EAED"/>
                </a:solidFill>
                <a:latin typeface="Segoe UI"/>
              </a:rPr>
              <a:t>“set up a team with one architect and two implementers; require plan approval before touching code”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Partition the files: each teammate owns theirs.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D53B7-85B5-6281-9492-98EA3A5A0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30954D-B99B-5794-83DE-E304686660F1}"/>
              </a:ext>
            </a:extLst>
          </p:cNvPr>
          <p:cNvSpPr/>
          <p:nvPr/>
        </p:nvSpPr>
        <p:spPr>
          <a:xfrm>
            <a:off x="-82296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60B63D-C1F5-00FC-B7C0-84A9C5972257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7CE552-5271-A4ED-EF57-A2731E4BB67E}"/>
              </a:ext>
            </a:extLst>
          </p:cNvPr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06 · SUBAGENTS AND AGENT TEAMS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F3A10A-ABB9-3449-03D2-98D8A7A83EBF}"/>
              </a:ext>
            </a:extLst>
          </p:cNvPr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Agent Teams: several Claudes coordinating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815B85-1E66-F07E-E8C4-BCF5AD623A6E}"/>
              </a:ext>
            </a:extLst>
          </p:cNvPr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9D23D4-2CE1-8A2D-4E18-ECE73B85D37F}"/>
              </a:ext>
            </a:extLst>
          </p:cNvPr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6997B-B88D-4C1F-6A97-7E31D4373D01}"/>
              </a:ext>
            </a:extLst>
          </p:cNvPr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16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E047FE3-F06A-A831-7182-18CA8413D426}"/>
              </a:ext>
            </a:extLst>
          </p:cNvPr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06D701D-CA3C-5F04-BE9A-F9D9D0165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08" y="750198"/>
            <a:ext cx="11594592" cy="564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62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06 · SUBAGENTS AND AGENT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Subagent or team? The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8288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AA2C7"/>
                </a:solidFill>
                <a:latin typeface="Segoe UI"/>
              </a:rPr>
              <a:t>SUBAGENT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8288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AGENT TEAM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40280"/>
            <a:ext cx="10927080" cy="475488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286000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Isolated; returns a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86000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Each teammate = full session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07208"/>
            <a:ext cx="10927080" cy="475488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2852928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852928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Result only → 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852928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Task list + messages between teammates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74136"/>
            <a:ext cx="10927080" cy="475488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419856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419856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Low (costly work dies outside)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419856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High (N sessions in parallel)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41064"/>
            <a:ext cx="10927080" cy="475488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986784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Use it for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986784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Side-quests: investigate, 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986784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Real parallelism: multi-layer review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507992"/>
            <a:ext cx="10927080" cy="475488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55371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Config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553712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Nothing, or .claude/agents/*.md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553712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Experimental env var + settings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193792"/>
            <a:ext cx="10927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Bridge to Part 2: </a:t>
            </a:r>
            <a:r>
              <a:rPr sz="1150" b="0">
                <a:solidFill>
                  <a:srgbClr val="9AA4B2"/>
                </a:solidFill>
                <a:latin typeface="Segoe UI"/>
              </a:rPr>
              <a:t>GSD packages exactly this — gsd-planner, gsd-executor, gsd-verifier are custom subagents as a plugin (this project uses the data/changes/ flow, not GSD — see Part 2).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Subagent so noise dies outside; team so several Claudes can debate. The cost is not the same.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07 ·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Hooks: deterministic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83464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A hook's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Event payload via STDIN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Events: PreToolUse, PostToolUse, SessionStart, Stop…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Matcher = regex on the tool name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exit 0 allows · exit 2 BLOCKS (stderr → Claude)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Pre = intent (tool_input) · Post = result (tool_response)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37944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Blocking pattern (JS)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2331720"/>
            <a:ext cx="4892040" cy="187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if (payload.tool_input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?.file_path?.includes(".env")) {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console.error("Blocked: don't read .env");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process.exit(2);   // &lt;-- veto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}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process.exit(0);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With instructions you ask for good behavior; with a hook you guarantee it.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0080" y="4114800"/>
            <a:ext cx="10927080" cy="1892808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07 ·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From hooks to scheduled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35524" cy="96012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1247" y="20756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09397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2082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Hooks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43754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Security (.env), formatting (prettier), blocking type-check, 'AI reviewing AI' via SDK.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874519"/>
            <a:ext cx="5335524" cy="96012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32804" y="20756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2804" y="209397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202082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Headless / piping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331720"/>
            <a:ext cx="43754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claude -p in any Unix pipe or script.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090672"/>
            <a:ext cx="5335524" cy="96012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1247" y="329184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331012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236976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CI/CD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547872"/>
            <a:ext cx="43754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GitHub Actions · GitLab · GitHub Code Review on every PR.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3090672"/>
            <a:ext cx="5335524" cy="96012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32804" y="329184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32804" y="331012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236976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Scheduling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547872"/>
            <a:ext cx="43754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Routines (/schedule, Anthropic infra) · Desktop tasks · /loop.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8397" y="4261104"/>
            <a:ext cx="10927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dirty="0">
                <a:solidFill>
                  <a:srgbClr val="7AA2C7"/>
                </a:solidFill>
                <a:latin typeface="Segoe UI"/>
              </a:rPr>
              <a:t>Agent SDK — custom </a:t>
            </a:r>
            <a:r>
              <a:rPr sz="1100" b="1" dirty="0" err="1">
                <a:solidFill>
                  <a:srgbClr val="7AA2C7"/>
                </a:solidFill>
                <a:latin typeface="Segoe UI"/>
              </a:rPr>
              <a:t>workflows</a:t>
            </a:r>
            <a:r>
              <a:rPr sz="1100" b="1" dirty="0">
                <a:solidFill>
                  <a:srgbClr val="7AA2C7"/>
                </a:solidFill>
                <a:latin typeface="Segoe UI"/>
              </a:rPr>
              <a:t> (</a:t>
            </a:r>
            <a:r>
              <a:rPr sz="1100" b="1" dirty="0" err="1">
                <a:solidFill>
                  <a:srgbClr val="7AA2C7"/>
                </a:solidFill>
                <a:latin typeface="Segoe UI"/>
              </a:rPr>
              <a:t>least</a:t>
            </a:r>
            <a:r>
              <a:rPr sz="1100" b="1" dirty="0">
                <a:solidFill>
                  <a:srgbClr val="7AA2C7"/>
                </a:solidFill>
                <a:latin typeface="Segoe UI"/>
              </a:rPr>
              <a:t> privilege)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4736592"/>
            <a:ext cx="10469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dirty="0">
                <a:solidFill>
                  <a:srgbClr val="E8EAED"/>
                </a:solidFill>
                <a:latin typeface="Consolas"/>
              </a:rPr>
              <a:t>import { query } from "@anthropic-ai/</a:t>
            </a:r>
            <a:r>
              <a:rPr sz="1150" b="0" dirty="0" err="1">
                <a:solidFill>
                  <a:srgbClr val="E8EAED"/>
                </a:solidFill>
                <a:latin typeface="Consolas"/>
              </a:rPr>
              <a:t>claude</a:t>
            </a:r>
            <a:r>
              <a:rPr sz="1150" b="0" dirty="0">
                <a:solidFill>
                  <a:srgbClr val="E8EAED"/>
                </a:solidFill>
                <a:latin typeface="Consolas"/>
              </a:rPr>
              <a:t>-agent-</a:t>
            </a:r>
            <a:r>
              <a:rPr sz="1150" b="0" dirty="0" err="1">
                <a:solidFill>
                  <a:srgbClr val="E8EAED"/>
                </a:solidFill>
                <a:latin typeface="Consolas"/>
              </a:rPr>
              <a:t>sdk</a:t>
            </a:r>
            <a:r>
              <a:rPr sz="1150" b="0" dirty="0">
                <a:solidFill>
                  <a:srgbClr val="E8EAED"/>
                </a:solidFill>
                <a:latin typeface="Consolas"/>
              </a:rPr>
              <a:t>";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dirty="0">
                <a:solidFill>
                  <a:srgbClr val="E8EAED"/>
                </a:solidFill>
                <a:latin typeface="Consolas"/>
              </a:rPr>
              <a:t>for await (const m of query({ prompt, options: { </a:t>
            </a:r>
            <a:r>
              <a:rPr sz="1150" b="0" dirty="0" err="1">
                <a:solidFill>
                  <a:srgbClr val="E8EAED"/>
                </a:solidFill>
                <a:latin typeface="Consolas"/>
              </a:rPr>
              <a:t>allowedTools</a:t>
            </a:r>
            <a:r>
              <a:rPr sz="1150" b="0" dirty="0">
                <a:solidFill>
                  <a:srgbClr val="E8EAED"/>
                </a:solidFill>
                <a:latin typeface="Consolas"/>
              </a:rPr>
              <a:t>: ["Edit"] } }))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dirty="0">
                <a:solidFill>
                  <a:srgbClr val="E8EAED"/>
                </a:solidFill>
                <a:latin typeface="Consolas"/>
              </a:rPr>
              <a:t>  if (</a:t>
            </a:r>
            <a:r>
              <a:rPr sz="1150" b="0" dirty="0" err="1">
                <a:solidFill>
                  <a:srgbClr val="E8EAED"/>
                </a:solidFill>
                <a:latin typeface="Consolas"/>
              </a:rPr>
              <a:t>m.type</a:t>
            </a:r>
            <a:r>
              <a:rPr sz="1150" b="0" dirty="0">
                <a:solidFill>
                  <a:srgbClr val="E8EAED"/>
                </a:solidFill>
                <a:latin typeface="Consolas"/>
              </a:rPr>
              <a:t> === "result") console.log(</a:t>
            </a:r>
            <a:r>
              <a:rPr sz="1150" b="0" dirty="0" err="1">
                <a:solidFill>
                  <a:srgbClr val="E8EAED"/>
                </a:solidFill>
                <a:latin typeface="Consolas"/>
              </a:rPr>
              <a:t>m.result</a:t>
            </a:r>
            <a:r>
              <a:rPr sz="1150" b="0" dirty="0">
                <a:solidFill>
                  <a:srgbClr val="E8EAED"/>
                </a:solidFill>
                <a:latin typeface="Consolas"/>
              </a:rPr>
              <a:t>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Segoe U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E8EAED"/>
                </a:solidFill>
                <a:latin typeface="Segoe UI"/>
              </a:rPr>
              <a:t>The 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60604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A4B2"/>
                </a:solidFill>
                <a:latin typeface="Segoe UI"/>
              </a:rPr>
              <a:t>Tool-agnostic: demonstrated with Claude Code, but the discipline travels.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20440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56616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08 · The 11-stage workflow + real example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520440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09 · The method's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87368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4133087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10 · Transfer to another agent (Copilot)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087368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4133087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11 · Machine sync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08 · THE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The agent is a disciplined collaborator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0927080" cy="1051560"/>
          </a:xfrm>
          <a:prstGeom prst="roundRect">
            <a:avLst>
              <a:gd name="adj" fmla="val 6000"/>
            </a:avLst>
          </a:prstGeom>
          <a:solidFill>
            <a:srgbClr val="222B38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E8EAED"/>
                </a:solidFill>
                <a:latin typeface="Segoe UI"/>
              </a:rPr>
              <a:t>“Autonomy is earned per-decision, not granted wholesale.”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0896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31012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The agent owns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67328"/>
            <a:ext cx="48463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Investigation and diagnosis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Plans and implementation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Tests and documentation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10896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331012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The human owns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67328"/>
            <a:ext cx="48463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Go/no-go decisions and scope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Every external action: push, PR, deploy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13892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Agnostic:  </a:t>
            </a:r>
            <a:r>
              <a:rPr sz="1100" b="0">
                <a:solidFill>
                  <a:srgbClr val="9AA4B2"/>
                </a:solidFill>
                <a:latin typeface="Segoe UI"/>
              </a:rPr>
              <a:t>not a Claude Code workflow — a way of working with ANY agent. Section 10 proves it by transferring it to GitHub Copilot.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The model doesn't earn trust for free: it earns it decision by decision, with evidence.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08 · THE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dirty="0">
                <a:solidFill>
                  <a:srgbClr val="E8EAED"/>
                </a:solidFill>
                <a:latin typeface="Segoe UI"/>
              </a:rPr>
              <a:t>A </a:t>
            </a:r>
            <a:r>
              <a:rPr sz="3000" b="1" dirty="0" err="1">
                <a:solidFill>
                  <a:srgbClr val="E8EAED"/>
                </a:solidFill>
                <a:latin typeface="Segoe UI"/>
              </a:rPr>
              <a:t>example</a:t>
            </a:r>
            <a:r>
              <a:rPr sz="3000" b="1" dirty="0">
                <a:solidFill>
                  <a:srgbClr val="E8EAED"/>
                </a:solidFill>
                <a:latin typeface="Segoe UI"/>
              </a:rPr>
              <a:t> real, </a:t>
            </a:r>
            <a:r>
              <a:rPr lang="en-GB" sz="3000" b="1" dirty="0" err="1">
                <a:solidFill>
                  <a:srgbClr val="E8EAED"/>
                </a:solidFill>
                <a:latin typeface="Segoe UI"/>
              </a:rPr>
              <a:t>Architecture</a:t>
            </a:r>
            <a:r>
              <a:rPr lang="en-GB" sz="3000" b="1" dirty="0">
                <a:solidFill>
                  <a:srgbClr val="E8EAED"/>
                </a:solidFill>
                <a:latin typeface="Segoe UI"/>
              </a:rPr>
              <a:t> </a:t>
            </a:r>
            <a:r>
              <a:rPr lang="en-GB" sz="3000" b="1" dirty="0" err="1">
                <a:solidFill>
                  <a:srgbClr val="E8EAED"/>
                </a:solidFill>
                <a:latin typeface="Segoe UI"/>
              </a:rPr>
              <a:t>Application</a:t>
            </a:r>
            <a:endParaRPr sz="3000" b="1" dirty="0">
              <a:solidFill>
                <a:srgbClr val="E8EAED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927080" cy="566928"/>
          </a:xfrm>
          <a:prstGeom prst="roundRect">
            <a:avLst>
              <a:gd name="adj" fmla="val 10000"/>
            </a:avLst>
          </a:prstGeom>
          <a:solidFill>
            <a:srgbClr val="222B38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Segoe UI"/>
              </a:rPr>
              <a:t>QA bug: </a:t>
            </a:r>
            <a:r>
              <a:rPr sz="1250" b="0">
                <a:solidFill>
                  <a:srgbClr val="E8EAED"/>
                </a:solidFill>
                <a:latin typeface="Segoe UI"/>
              </a:rPr>
              <a:t>“a field shows empty in the UI, but it's written in the PDF.”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42032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2542032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57860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Orient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7860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/kg surfaces the danger zone (a SHARP_EDGE constraining the fix); git/gh give the baseline.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54096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" y="3054096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09067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Contract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09067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The field is empty in the endpoint JSON (Playwright/F12) → the Lambda is responsible.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66160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" y="3566160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60273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Provenance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6027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Re-extract on the previous base: already empty → pre-existing, not a regression.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78224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080" y="4078224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114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Investigate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1148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Serena + CodeGraph locate the detector; a deterministic _diag_pdf.py gives the cause: NO LLM.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590288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0080" y="4590288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4626864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Fix + 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626864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RED test → structural fix (not client) → no-op regression + local contract (wrapper) + inside the deployed image.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102352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0080" y="5102352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513892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Handoff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13892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Sanitize → the human does push/PR. A bot catches one more case → test + PLAYBOOK.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The model doesn't earn trust for free: it earns it decision by decision, with evidence.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6953C6D-B7EA-5D13-3CD3-9B97B5F2D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58" y="1387551"/>
            <a:ext cx="11308842" cy="54133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08 · THE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The real 11-stage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68096" y="1975103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975103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929384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Orient: /kg + history-first + status-first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78024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68096" y="2578608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257860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2532888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Inbound triage: symptom in the contract?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81528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68096" y="3182112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" y="318211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136392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Regression vs. pre-existing (prove it)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85031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68096" y="3785615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" y="3785615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7" y="3739895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Investigate: cheap deterministic oracle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88536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68096" y="4389120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438912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4343399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Plan → explicit human agreement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892040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68096" y="4992624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8096" y="499262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7" y="4946903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Implement: TDD RED → GREEN, minimal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1874519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391656" y="1975103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91656" y="1975103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0568" y="1929384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Verify: contract (wrapper) + deployed image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2478024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391656" y="2578608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91656" y="257860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0568" y="2532888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Document — each thing once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3081528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391656" y="3182112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91656" y="318211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0568" y="3136392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Sanitize — added lines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3685031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391656" y="3785615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91656" y="3785615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0568" y="3739895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Handoff: the human does push / PR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4288536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6391656" y="4389120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91656" y="438912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0568" y="4343399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Bot review + persist lessons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504688"/>
            <a:ext cx="10927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■ </a:t>
            </a:r>
            <a:r>
              <a:rPr sz="1100" b="0">
                <a:solidFill>
                  <a:srgbClr val="9AA4B2"/>
                </a:solidFill>
                <a:latin typeface="Segoe UI"/>
              </a:rPr>
              <a:t>Coral boxes are GATES (decision points). A red gate = STOP: no writing code.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The agent orchestrates and hosts the inference; cost concentrates in plan/code/verify, not in searching.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3CA02-1C20-94A7-9CE6-7F7F3186D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865F38-7D6F-B081-83BA-5BC1E32D0257}"/>
              </a:ext>
            </a:extLst>
          </p:cNvPr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85EB85-FF1D-2494-8ED0-8927A28C93E4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7E6F93-D25A-57C0-77C2-88C7E5F6395E}"/>
              </a:ext>
            </a:extLst>
          </p:cNvPr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08 · THE 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BA2E75-AA88-C1A3-8BC5-FA7DDD9D9780}"/>
              </a:ext>
            </a:extLst>
          </p:cNvPr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A real example, end to end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914871-DCB7-740A-1965-AC6BACC62AD8}"/>
              </a:ext>
            </a:extLst>
          </p:cNvPr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A71F9-BD71-E267-8697-8F1FF2F1A1E1}"/>
              </a:ext>
            </a:extLst>
          </p:cNvPr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447046-7965-BA71-1F00-D8ABEFF53042}"/>
              </a:ext>
            </a:extLst>
          </p:cNvPr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50C9E11-411A-918F-B700-38BF88ECB135}"/>
              </a:ext>
            </a:extLst>
          </p:cNvPr>
          <p:cNvSpPr/>
          <p:nvPr/>
        </p:nvSpPr>
        <p:spPr>
          <a:xfrm>
            <a:off x="640080" y="1783080"/>
            <a:ext cx="10927080" cy="566928"/>
          </a:xfrm>
          <a:prstGeom prst="roundRect">
            <a:avLst>
              <a:gd name="adj" fmla="val 10000"/>
            </a:avLst>
          </a:prstGeom>
          <a:solidFill>
            <a:srgbClr val="222B38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6DFDFD-E646-7DC0-F860-0FC73785B094}"/>
              </a:ext>
            </a:extLst>
          </p:cNvPr>
          <p:cNvSpPr txBox="1"/>
          <p:nvPr/>
        </p:nvSpPr>
        <p:spPr>
          <a:xfrm>
            <a:off x="868680" y="1828800"/>
            <a:ext cx="105156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Segoe UI"/>
              </a:rPr>
              <a:t>QA bug: </a:t>
            </a:r>
            <a:r>
              <a:rPr sz="1250" b="0">
                <a:solidFill>
                  <a:srgbClr val="E8EAED"/>
                </a:solidFill>
                <a:latin typeface="Segoe UI"/>
              </a:rPr>
              <a:t>“a field shows empty in the UI, but it's written in the PDF.”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30B290B-D11A-34E0-80DB-6D11FC1CDA05}"/>
              </a:ext>
            </a:extLst>
          </p:cNvPr>
          <p:cNvSpPr/>
          <p:nvPr/>
        </p:nvSpPr>
        <p:spPr>
          <a:xfrm>
            <a:off x="640080" y="2542032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5FC8411-E428-E5C6-BA61-F800F369FCED}"/>
              </a:ext>
            </a:extLst>
          </p:cNvPr>
          <p:cNvSpPr/>
          <p:nvPr/>
        </p:nvSpPr>
        <p:spPr>
          <a:xfrm>
            <a:off x="640080" y="2542032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5F84C3-4980-3F6D-389D-ADEED202A316}"/>
              </a:ext>
            </a:extLst>
          </p:cNvPr>
          <p:cNvSpPr txBox="1"/>
          <p:nvPr/>
        </p:nvSpPr>
        <p:spPr>
          <a:xfrm>
            <a:off x="868680" y="257860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Orient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0217FA-2FE6-3D61-854D-491C690978FD}"/>
              </a:ext>
            </a:extLst>
          </p:cNvPr>
          <p:cNvSpPr txBox="1"/>
          <p:nvPr/>
        </p:nvSpPr>
        <p:spPr>
          <a:xfrm>
            <a:off x="3200400" y="257860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/kg surfaces the danger zone (a SHARP_EDGE constraining the fix); git/gh give the baseline.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F2F30B6-2413-7E86-FEA0-A2876C575FD8}"/>
              </a:ext>
            </a:extLst>
          </p:cNvPr>
          <p:cNvSpPr/>
          <p:nvPr/>
        </p:nvSpPr>
        <p:spPr>
          <a:xfrm>
            <a:off x="640080" y="3054096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E2DAEDA-3400-3D7E-7C98-BFCE31614486}"/>
              </a:ext>
            </a:extLst>
          </p:cNvPr>
          <p:cNvSpPr/>
          <p:nvPr/>
        </p:nvSpPr>
        <p:spPr>
          <a:xfrm>
            <a:off x="640080" y="3054096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B7DF6B-336B-6A2B-991C-AD9CCEF9883B}"/>
              </a:ext>
            </a:extLst>
          </p:cNvPr>
          <p:cNvSpPr txBox="1"/>
          <p:nvPr/>
        </p:nvSpPr>
        <p:spPr>
          <a:xfrm>
            <a:off x="868680" y="309067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Contract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2DF16A-94A2-77CE-E20B-2263CA39EF3B}"/>
              </a:ext>
            </a:extLst>
          </p:cNvPr>
          <p:cNvSpPr txBox="1"/>
          <p:nvPr/>
        </p:nvSpPr>
        <p:spPr>
          <a:xfrm>
            <a:off x="3200400" y="309067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The field is empty in the endpoint JSON (Playwright/F12) → the Lambda is responsible.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00CEA6C-8D29-8FEE-4339-7ACEF1372D6C}"/>
              </a:ext>
            </a:extLst>
          </p:cNvPr>
          <p:cNvSpPr/>
          <p:nvPr/>
        </p:nvSpPr>
        <p:spPr>
          <a:xfrm>
            <a:off x="640080" y="3566160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9A0FDB5-DC69-64F9-7D9C-4C50C3C3506C}"/>
              </a:ext>
            </a:extLst>
          </p:cNvPr>
          <p:cNvSpPr/>
          <p:nvPr/>
        </p:nvSpPr>
        <p:spPr>
          <a:xfrm>
            <a:off x="640080" y="3566160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C6CCCE-1FE9-AF3C-2375-6DDBE5CDDEE9}"/>
              </a:ext>
            </a:extLst>
          </p:cNvPr>
          <p:cNvSpPr txBox="1"/>
          <p:nvPr/>
        </p:nvSpPr>
        <p:spPr>
          <a:xfrm>
            <a:off x="868680" y="360273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Provenance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FD3CAC-1A45-605E-52AA-E13042393F48}"/>
              </a:ext>
            </a:extLst>
          </p:cNvPr>
          <p:cNvSpPr txBox="1"/>
          <p:nvPr/>
        </p:nvSpPr>
        <p:spPr>
          <a:xfrm>
            <a:off x="3200400" y="36027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Re-extract on the previous base: already empty → pre-existing, not a regression.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15B6919-17A0-EFBF-A829-E43D58E6557F}"/>
              </a:ext>
            </a:extLst>
          </p:cNvPr>
          <p:cNvSpPr/>
          <p:nvPr/>
        </p:nvSpPr>
        <p:spPr>
          <a:xfrm>
            <a:off x="640080" y="4078224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FF0FD6F-D01C-3E4E-D8D3-8048770A6E33}"/>
              </a:ext>
            </a:extLst>
          </p:cNvPr>
          <p:cNvSpPr/>
          <p:nvPr/>
        </p:nvSpPr>
        <p:spPr>
          <a:xfrm>
            <a:off x="640080" y="4078224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60F844-9871-AB54-9BFA-237182EB676C}"/>
              </a:ext>
            </a:extLst>
          </p:cNvPr>
          <p:cNvSpPr txBox="1"/>
          <p:nvPr/>
        </p:nvSpPr>
        <p:spPr>
          <a:xfrm>
            <a:off x="868680" y="4114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Investigate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C1A787-6F90-F532-277E-FC1CD481DD00}"/>
              </a:ext>
            </a:extLst>
          </p:cNvPr>
          <p:cNvSpPr txBox="1"/>
          <p:nvPr/>
        </p:nvSpPr>
        <p:spPr>
          <a:xfrm>
            <a:off x="3200400" y="41148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Serena + CodeGraph locate the detector; a deterministic _diag_pdf.py gives the cause: NO LLM.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0467D1D-E204-9365-52A4-99057E472B3B}"/>
              </a:ext>
            </a:extLst>
          </p:cNvPr>
          <p:cNvSpPr/>
          <p:nvPr/>
        </p:nvSpPr>
        <p:spPr>
          <a:xfrm>
            <a:off x="640080" y="4590288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16CFA53-3B4E-7A8B-FA0E-1386FA1041AC}"/>
              </a:ext>
            </a:extLst>
          </p:cNvPr>
          <p:cNvSpPr/>
          <p:nvPr/>
        </p:nvSpPr>
        <p:spPr>
          <a:xfrm>
            <a:off x="640080" y="4590288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393DDF-442E-BA89-FBE8-F7F638B5F781}"/>
              </a:ext>
            </a:extLst>
          </p:cNvPr>
          <p:cNvSpPr txBox="1"/>
          <p:nvPr/>
        </p:nvSpPr>
        <p:spPr>
          <a:xfrm>
            <a:off x="868680" y="4626864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Fix + verify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B7F6C2-7B05-6E20-0E25-F11F74AC1C2A}"/>
              </a:ext>
            </a:extLst>
          </p:cNvPr>
          <p:cNvSpPr txBox="1"/>
          <p:nvPr/>
        </p:nvSpPr>
        <p:spPr>
          <a:xfrm>
            <a:off x="3200400" y="4626864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RED test → structural fix (not client) → no-op regression + local contract (wrapper) + inside the deployed image.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AFD76A4-30BF-407D-3915-BDF7BAA3D11B}"/>
              </a:ext>
            </a:extLst>
          </p:cNvPr>
          <p:cNvSpPr/>
          <p:nvPr/>
        </p:nvSpPr>
        <p:spPr>
          <a:xfrm>
            <a:off x="640080" y="5102352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A304E30-91C2-1D02-3C5F-082DF6C429B1}"/>
              </a:ext>
            </a:extLst>
          </p:cNvPr>
          <p:cNvSpPr/>
          <p:nvPr/>
        </p:nvSpPr>
        <p:spPr>
          <a:xfrm>
            <a:off x="640080" y="5102352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AC503E-96F5-2960-AD40-5913378FD478}"/>
              </a:ext>
            </a:extLst>
          </p:cNvPr>
          <p:cNvSpPr txBox="1"/>
          <p:nvPr/>
        </p:nvSpPr>
        <p:spPr>
          <a:xfrm>
            <a:off x="868680" y="513892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Handoff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629FE2-6A3E-2AB9-AC7C-A32CC2C46043}"/>
              </a:ext>
            </a:extLst>
          </p:cNvPr>
          <p:cNvSpPr txBox="1"/>
          <p:nvPr/>
        </p:nvSpPr>
        <p:spPr>
          <a:xfrm>
            <a:off x="3200400" y="513892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Sanitize → the human does push/PR. A bot catches one more case → test + PLAYBOOK.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D87D28-9EFB-971C-AE8A-96161CEF7DB5}"/>
              </a:ext>
            </a:extLst>
          </p:cNvPr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736D472-5821-A00F-91CF-84D7F9598BF3}"/>
              </a:ext>
            </a:extLst>
          </p:cNvPr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5F69F6B-EA63-9568-FF7A-C42B26CF6108}"/>
              </a:ext>
            </a:extLst>
          </p:cNvPr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The model doesn't earn trust for free: it earns it decision by decision, with evidence.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  <p:extLst>
      <p:ext uri="{BB962C8B-B14F-4D97-AF65-F5344CB8AC3E}">
        <p14:creationId xmlns:p14="http://schemas.microsoft.com/office/powerpoint/2010/main" val="9585656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09 · METHOD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Which tool the agent uses, and when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27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4B2"/>
                </a:solidFill>
                <a:latin typeface="Segoe UI"/>
              </a:rPr>
              <a:t>CLAUDE.md rule: </a:t>
            </a:r>
            <a:r>
              <a:rPr sz="1200" b="1">
                <a:solidFill>
                  <a:srgbClr val="E8EAED"/>
                </a:solidFill>
                <a:latin typeface="Segoe UI"/>
              </a:rPr>
              <a:t>codegraph_explore FIRST (survey in 1 call) · Serena find_referencing_symbols for the precise check before renaming. </a:t>
            </a:r>
            <a:r>
              <a:rPr sz="1200" b="0">
                <a:solidFill>
                  <a:srgbClr val="9AA4B2"/>
                </a:solidFill>
                <a:latin typeface="Segoe UI"/>
              </a:rPr>
              <a:t>Order: cheap → expensive, deterministic → probabilistic.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Orient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3317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/kg (ticket graph → danger zone) · STATUS.md · git · 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23317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no inference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3464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8803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Navigate (survey)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8803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CodeGraph codegraph_explore — source + paths + blast radius +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28803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1 call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8328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4290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Refactor-check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4290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Serena find_referencing_symbols — disambiguates by class (before renaming)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34290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precise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3192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3977639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Diagnose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072033"/>
            <a:ext cx="640080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GB" sz="1150" b="0" dirty="0" err="1">
                <a:solidFill>
                  <a:srgbClr val="E8EAED"/>
                </a:solidFill>
                <a:latin typeface="Segoe UI"/>
              </a:rPr>
              <a:t>Code</a:t>
            </a:r>
            <a:r>
              <a:rPr sz="1150" b="0" dirty="0">
                <a:solidFill>
                  <a:srgbClr val="E8EAED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E8EAED"/>
                </a:solidFill>
                <a:latin typeface="Segoe UI"/>
              </a:rPr>
              <a:t>deterministic</a:t>
            </a:r>
            <a:r>
              <a:rPr sz="1150" b="0" dirty="0">
                <a:solidFill>
                  <a:srgbClr val="E8EAED"/>
                </a:solidFill>
                <a:latin typeface="Segoe UI"/>
              </a:rPr>
              <a:t>: parser / </a:t>
            </a:r>
            <a:r>
              <a:rPr sz="1150" b="0" dirty="0" err="1">
                <a:solidFill>
                  <a:srgbClr val="E8EAED"/>
                </a:solidFill>
                <a:latin typeface="Segoe UI"/>
              </a:rPr>
              <a:t>validator</a:t>
            </a:r>
            <a:r>
              <a:rPr sz="1150" b="0" dirty="0">
                <a:solidFill>
                  <a:srgbClr val="E8EAED"/>
                </a:solidFill>
                <a:latin typeface="Segoe UI"/>
              </a:rPr>
              <a:t> / _diag_*.py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3977639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no inference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48056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52628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Environment (logs, config)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5262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AWS CLI — CloudWatch · lambda get-function · SQS/DLQ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452628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read-only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02920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0749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Output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50749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Playwright / F12 on the endpoint the consumer sees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5074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reproduce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57784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222B38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623559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Only at the 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5623559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The LLM call — to VERIFY the fix, not to diagnose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5623559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metered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09 · METHOD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Each tool in one sentence — and its phase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1247" y="202996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04825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CG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7510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CodeGraph → investigate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286000"/>
            <a:ext cx="43754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Graph of the CODE (tree-sitter→SQLite, local). Survey in 1 call: source + callers + blast radius + coverage.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828800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32804" y="202996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2804" y="204825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1975104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Serena → pre-refactor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286000"/>
            <a:ext cx="43754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Semantic navigation via LSP. find_referencing_symbols disambiguates by class: the precise check before renaming.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63824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1247" y="3364992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3383280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10128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GSD → plan/execute/verify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21024"/>
            <a:ext cx="43754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The method productized (gsd-* subagents + .planning/). For multi-phase greenfield; this project uses data/changes/, not GSD.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3163824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32804" y="3364992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32804" y="3383280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/kg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310128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Ticket graph → orient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21024"/>
            <a:ext cx="43754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Graph of the project's MEMORY (with graphify): tickets + sharp edges. History-first, no LLM (Part 3).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98848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41247" y="4700016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7" y="4718304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Pw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645152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Playwright → triage and outbound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956048"/>
            <a:ext cx="43754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Reproduce the symptom where the consumer sees it: the real endpoint, not an internal function.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4498848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432804" y="4700016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32804" y="4718304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4596" y="4645152"/>
            <a:ext cx="43754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Oracles → diagnose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4596" y="4956048"/>
            <a:ext cx="43754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Your own parsers/validators/_diag_*.py: a cheap, reproducible answer before spending the LLM call.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The classic inversion — the model diagnoses — is what this order avoids: the model verifies; the oracles diagnose.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09 · METHOD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GSD: the methodology productized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0784"/>
            <a:ext cx="5623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Phase-based cycle, state versioned in .planning/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5623560" cy="292608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194560"/>
            <a:ext cx="5166360" cy="2606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/gsd-new-project  -&gt; PROJECT.md + ROADMAP.md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/gsd-plan-phase   -&gt; PLAN.md  (+ gate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                gsd-plan-checker)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/gsd-execute-phase-&gt; parallel waves,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                atomic commits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/gsd-verify-work  -&gt; VERIFICATION.md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endParaRPr sz="1150" b="0">
              <a:solidFill>
                <a:srgbClr val="E8EAED"/>
              </a:solidFill>
              <a:latin typeface="Consolas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/gsd-progress     # what's next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700784"/>
            <a:ext cx="5074920" cy="324612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59" y="1901952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Specialized subagents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2359152"/>
            <a:ext cx="4572000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gsd-planner — breakdown + dependencies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gsd-plan-checker — will it meet the goal? (goal-backward)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gsd-executor — atomic commits, checkpoints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gsd-code-reviewer — REVIEW.md by severity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gsd-verifier — verifies the GOAL, not just tasks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Do we use it here? No: </a:t>
            </a:r>
            <a:r>
              <a:rPr sz="1150" b="0">
                <a:solidFill>
                  <a:srgbClr val="9AA4B2"/>
                </a:solidFill>
                <a:latin typeface="Segoe UI"/>
              </a:rPr>
              <a:t>this project runs the 11-stage workflow + data/changes/, more refined for per-ticket fixes. GSD fits a multi-component greenfield (roadmap → phases). Here it illustrates Part 1: custom subagents + skills as a plugin.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Same method, productized: GSD for multi-phase greenfield; here, data/changes/ tuned to per-ticket fixes.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09 · METHOD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CodeGraph: local code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19456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Tree-sitter index → SQLite (.codegraph/)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Symbols: functions, classes, routes, components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Edges: calls, imports, inheritance, references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Deterministic (from the AST), no API keys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Returns: source + paths + blast radius +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00784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CLI  (install --location=global writes the MCP)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5349240" cy="155448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2194560"/>
            <a:ext cx="48920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codegraph init      # creates .codegraph/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codegraph sync      # incremental after edits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codegraph explore "&lt;symbol|question&gt;"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codegraph serve --path &lt;repo&gt; --mcp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94760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913632"/>
            <a:ext cx="49377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First for navigation:  </a:t>
            </a:r>
            <a:r>
              <a:rPr sz="1100" b="0">
                <a:solidFill>
                  <a:srgbClr val="E8EAED"/>
                </a:solidFill>
                <a:latin typeface="Segoe UI"/>
              </a:rPr>
              <a:t>source + callers + blast radius + coverage in 1 query (treat it as ALREADY read). Serena find_referencing_symbols = precise check (disambiguates by class). --path sets the default repo.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5349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CC28C"/>
                </a:solidFill>
                <a:latin typeface="Segoe UI"/>
              </a:rPr>
              <a:t>58% fewer tool calls · 22% faster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(per its benchmarks: nearly eliminates file reads)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One query instead of grep→open→follow-import→repeat. Less context, more signal.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09 · METHOD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Serena: semantic navigation, precise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37744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Semantic navigation via LSP (MCP)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Operates on SYMBOLS, not text: IDE precision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find_symbol (body=true) — one method from a 5k-line file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get_symbols_overview — a file's skeleton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find_referencing_symbols — who references, BY CLASS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search_for_pattern · activate_project (multi-repo)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37944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Install (stdio)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5349240" cy="123444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2331720"/>
            <a:ext cx="4892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claude mcp add serena -- uvx \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--from git+https://github.com/oraios/serena \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serena start-mcp-server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65760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79476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Why it's MANDATORY pre-rename:  </a:t>
            </a:r>
            <a:r>
              <a:rPr sz="1100" b="0">
                <a:solidFill>
                  <a:srgbClr val="E8EAED"/>
                </a:solidFill>
                <a:latin typeface="Segoe UI"/>
              </a:rPr>
              <a:t>CodeGraph's flat impact mixes same-name methods (Invoice.process vs Refund.process); Serena disambiguates them by class. Complementary, not rivals.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5349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The refactor-scout subagent </a:t>
            </a:r>
            <a:r>
              <a:rPr sz="1150" b="0">
                <a:solidFill>
                  <a:srgbClr val="9AA4B2"/>
                </a:solidFill>
                <a:latin typeface="Segoe UI"/>
              </a:rPr>
              <a:t>(ejemplos/subagents/) packages the CodeGraph → Serena → grep order as a procedure.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CodeGraph answers 'what breaks?'; Serena answers 'exactly who calls THIS process()?'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10 ·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Proof it's agnostic: taking it to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5146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Travels UNCHANGED (the 5 rules)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 → agreement → implement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Verify against the CONSUMER's contract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Solve the general class, not one input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Durable trail: why, what, how it was verified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human owns the external (merge, deploy)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349240" cy="25146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Re-mapped per repo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84632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contract: HTTP / DB / event / artifact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tracker: Jira · Azure Boards · Issues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test pyramid and the deployed runtime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local sanitization rules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tools: Serena/CodeGraph//kg are fungible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26280"/>
            <a:ext cx="10927080" cy="1143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727448"/>
            <a:ext cx="10469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The starter-kit (docs/ai-agents-code-methodology/)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84648"/>
            <a:ext cx="104241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STATUS · SHARP_EDGES · handover · QA templates + bootstrap-new-repo.ps1 → structure in the target repo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Without the ticket graph: deterministic fallback (STATUS newest-first + lexical search + commit history) = 80% of the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If you keep only five rules, keep these five. Tools get swapped; the discipline travels.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11 · 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A real runbook: syncing machines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46888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Outbound — full copy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One tarball: workspace + ~/.claude · .aws · .ssh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-h dereferences the .aws symlink (critical)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Excludes venvs / node_modules / caches / .codegraph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USB: manual mount in WSL + byte-for-byte verify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On target: bootstrap (/kg) + target-setup.sh rebuild the tooling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349240" cy="246888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Inbound — delta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code is already on GitHub → git fetch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Gitignored docs in data/ + memory (snapshot-memory) travel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On the main one: restore-memory → /kg-refresh rebuilds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backup + diff of STATUS.md; STOP if it had manual edits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07408"/>
            <a:ext cx="10927080" cy="128016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608576"/>
            <a:ext cx="10469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An agent drives the landing — with guardrails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65776"/>
            <a:ext cx="10424159" cy="457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Non-destructive only (rename, don't delete) · git fetch = only network op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human does push / merge; the agent prepares and reports with evidence (counts, PRs)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The methodology isn't just for code: durable memory, guardrails and 'the human does the external' in ops too.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Segoe UI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E8EAED"/>
                </a:solidFill>
                <a:latin typeface="Segoe UI"/>
              </a:rPr>
              <a:t>The ticket 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60604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A4B2"/>
                </a:solidFill>
                <a:latin typeface="Segoe UI"/>
              </a:rPr>
              <a:t>A complete case built with graphify — not CodeGraph: the project's memory, navigable.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20440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56616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12a · The problem and the design (spike)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520440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12b · Pipeline and commands (/kg, /kg-refresh)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87368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4133087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12c · The real graph, visualized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087368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4133087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12d · Usage and hook into the methodology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3 · 12A · TICKET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The problem, and why graphify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~540 files of writeups, sharp edges, runbooks, memory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A 'new' bug almost always has prior context constraining the fix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Finding it by hand = remembering it exists + grep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graph makes it EXPLICIT and queryable in 1 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The corpus: manifest, not glob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manifest.txt DIFFABLE: ~116 files, ~196k words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sst-* writeups (+ deterministic fallback) · hubs · runbooks · memory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Hard exclusions: binaries, repeated handovers, stale copies (payload/)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Density without new knowledge = noise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43400"/>
            <a:ext cx="10927080" cy="1234440"/>
          </a:xfrm>
          <a:prstGeom prst="roundRect">
            <a:avLst>
              <a:gd name="adj" fmla="val 8000"/>
            </a:avLst>
          </a:prstGeom>
          <a:solidFill>
            <a:srgbClr val="222B38"/>
          </a:solidFill>
          <a:ln w="9525">
            <a:solidFill>
              <a:srgbClr val="8CC2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498848"/>
            <a:ext cx="104241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The technology is graphify — CodeGraph is just the analogy.  </a:t>
            </a:r>
            <a:r>
              <a:rPr sz="1150" b="0">
                <a:solidFill>
                  <a:srgbClr val="E8EAED"/>
                </a:solidFill>
                <a:latin typeface="Segoe UI"/>
              </a:rPr>
              <a:t>Same role (queryable graph before touching anything), different domain (tickets, not code), different tool. Phase 1 was a SPIKE with a keep/extend/replace decision: validate off-the-shelf graphify before investing in custom extraction. It sufficed — and it stayed.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Full material (design, scripts, tests, real output): docs/knowledge-graph/.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3 · 12B · TICKET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Pipeline and commands built in Claude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46504"/>
            <a:ext cx="5806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Build (skill /kg-refresh)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5806440" cy="196596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240280"/>
            <a:ext cx="5349240" cy="1645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kg_refresh.sh prepare   # manifest -&gt; stage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                   # -&gt; scratch OUTSIDE the repo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/graphify &lt;scratch&gt;     # ONLY step with LLM: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                   # nodes+edges+clustering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kg_refresh.sh finalize  # output/ + leak-check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755648"/>
            <a:ext cx="4846320" cy="2286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95159" y="1956816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The pieces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2414015"/>
            <a:ext cx="4343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/kg and /kg-refresh — Claude Code skills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kg_query.sh — wraps graphify explain/path + find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kg_refresh.sh — prepare · finalize · bootstrap · snapshot/restore-memory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build_manifest.py + stage_corpus.py — the corpus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test_kg_*.py — the bookends, TESTED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24528"/>
            <a:ext cx="10927080" cy="1371600"/>
          </a:xfrm>
          <a:prstGeom prst="roundRect">
            <a:avLst>
              <a:gd name="adj" fmla="val 8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370832"/>
            <a:ext cx="10424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The gotcha behind it:  </a:t>
            </a:r>
            <a:r>
              <a:rPr sz="1150" b="0">
                <a:solidFill>
                  <a:srgbClr val="E8EAED"/>
                </a:solidFill>
                <a:latin typeface="Segoe UI"/>
              </a:rPr>
              <a:t>graphify honors .gitignore and all of data/ is ignored → running the detector in place finds 0 files. Hence the corpus is staged in a scratch outside the repo and artifacts are copied back.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8CC28C"/>
                </a:solidFill>
                <a:latin typeface="Segoe UI"/>
              </a:rPr>
              <a:t>That's why /kg-refresh is a skill, not a script: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semantic step (/graphify, subagents in parallel) is a Claude step; the bookends are deterministic.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Staging with provenance: tkt-103__tkt-103.md, hub__STATUS.md, memory__x.md — each node traces to its source.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3 · 12C · TICKET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The real graph: 507 nodes, 35 communities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764792"/>
            <a:ext cx="8083296" cy="4562856"/>
          </a:xfrm>
          <a:prstGeom prst="rect">
            <a:avLst/>
          </a:prstGeom>
          <a:noFill/>
          <a:ln w="12700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kg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8046720" cy="4526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869680" y="178308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0" y="198424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The real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441448"/>
            <a:ext cx="21945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507 nodes · 672 edges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35 communities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92% EXTRACTED (reliable)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7% INFERRED (conf. 0.7)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116 files, ~196k words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5029200"/>
            <a:ext cx="2697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interactive graph.html: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node search, info panel, community filter (vis-network).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Communities map to real danger zones; the god-nodes are a free onboarding list.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3 · 12D · TICKET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How it's used — and where it hooks in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46504"/>
            <a:ext cx="5806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Query: ZERO LLM (kg_query.sh reads graph.json)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5806440" cy="182880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240280"/>
            <a:ext cx="534924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/kg &lt;ticket|topic&gt; # neighbors (explain)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/kg &lt;A&gt; &lt;B&gt;        # path      (path)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/kg find &lt;substr&gt;  # exact node name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/kg-refresh        # rebuild (cheap)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755648"/>
            <a:ext cx="4846320" cy="2286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95159" y="1956816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Where it hooks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2414015"/>
            <a:ext cx="4343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Stage 1 (Orient) of the 11-stage workflow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CLAUDE.md history-first rule: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/kg &lt;ticket|topic&gt; BEFORE grep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Points at WHAT to read; doesn't replace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806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CC28C"/>
                </a:solidFill>
                <a:latin typeface="Segoe UI"/>
              </a:rPr>
              <a:t>Real example: /kg get_letter_end </a:t>
            </a:r>
            <a:r>
              <a:rPr sz="1150" b="0">
                <a:solidFill>
                  <a:srgbClr val="9AA4B2"/>
                </a:solidFill>
                <a:latin typeface="Segoe UI"/>
              </a:rPr>
              <a:t>→ the full danger zone instantly: the 5-6 tickets sharing that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54880"/>
            <a:ext cx="10927080" cy="9144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956048"/>
            <a:ext cx="10469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Honesty and lifecycle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13248"/>
            <a:ext cx="10424159" cy="91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Recall in dense zones · EXTRACTED = reliable, INFERRED = hint · internal (data/) · derived: never travels, gets rebuilt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One semantic step in the build, zero LLM in the query. The graph is the map; the agent, the guide.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From assistant to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PART 1 · the tool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2313432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322576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402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Install +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542032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One line; two-tier CLAUDE.md; sessions that travel.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17520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960" y="3182112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191256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1089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Context &amp; caching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10712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The budget and the discount: lean and stable wins both.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86200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60" y="4050791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059936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977639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MCP + skills + plugins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79392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Connect your world; package and distribute workflows.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54879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2960" y="4919471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928616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846319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Subagents &amp; teams + 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148071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Scale the work; hooks that guarantee quality.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78308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AA2C7"/>
                </a:solidFill>
                <a:latin typeface="Segoe UI"/>
              </a:rPr>
              <a:t>PART 2 + 3 · the method and the graph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148840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00800" y="2313432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2322576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22402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The 11-stage workflow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2542032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Deterministic gates; the human owns the decisions.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017520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400800" y="3182112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3191256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31089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The method's tools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410712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CodeGraph · Serena · oracles: cheap→expensive; GSD = the method productized.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3886200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400800" y="4050791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0" y="4059936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3977639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Transferable, even to ops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279392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Starter-kit proven on Copilot; machine-sync with guardrails.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4754879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400800" y="4919471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800" y="4928616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4846319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The ticket graph (graphify)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5148071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507 nodes · 35 communities: history-first, no LLM.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6707E"/>
                </a:solidFill>
                <a:latin typeface="Segoe UI"/>
              </a:rPr>
              <a:t>References:  code.claude.com/docs  ·  github.com/tomascortereal/claude-code-setup  ·  colbymchenry.github.io/codegraph  ·  github.com/oraios/serena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1344</TotalTime>
  <Words>6006</Words>
  <Application>Microsoft Office PowerPoint</Application>
  <PresentationFormat>Widescreen</PresentationFormat>
  <Paragraphs>698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Aptos</vt:lpstr>
      <vt:lpstr>Aptos Display</vt:lpstr>
      <vt:lpstr>Arial</vt:lpstr>
      <vt:lpstr>Calibri</vt:lpstr>
      <vt:lpstr>Consolas</vt:lpstr>
      <vt:lpstr>Segoe UI</vt:lpstr>
      <vt:lpstr>Office Theme</vt:lpstr>
      <vt:lpstr>1_Office Theme</vt:lpstr>
      <vt:lpstr>Agentic Ai  Claude Code: from assistant to agentic developing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Jan SHR</cp:lastModifiedBy>
  <cp:revision>10</cp:revision>
  <dcterms:created xsi:type="dcterms:W3CDTF">2013-01-27T09:14:16Z</dcterms:created>
  <dcterms:modified xsi:type="dcterms:W3CDTF">2026-07-20T07:28:14Z</dcterms:modified>
  <cp:category/>
</cp:coreProperties>
</file>