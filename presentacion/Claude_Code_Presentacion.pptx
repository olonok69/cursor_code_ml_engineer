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92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93" r:id="rId15"/>
    <p:sldId id="268" r:id="rId16"/>
    <p:sldId id="269" r:id="rId17"/>
    <p:sldId id="270" r:id="rId18"/>
    <p:sldId id="271" r:id="rId19"/>
    <p:sldId id="294" r:id="rId20"/>
    <p:sldId id="272" r:id="rId21"/>
    <p:sldId id="273" r:id="rId22"/>
    <p:sldId id="274" r:id="rId23"/>
    <p:sldId id="275" r:id="rId24"/>
    <p:sldId id="276" r:id="rId25"/>
    <p:sldId id="278" r:id="rId26"/>
    <p:sldId id="277" r:id="rId27"/>
    <p:sldId id="295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A915-3F6C-42F1-BEFD-E7D452B2D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A847D-62AE-767A-506C-5A8EFB6B7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DCB44-D827-70F7-D90F-5B32CB1A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5A4A1-E9E2-C141-4B8D-39BF3B8D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D3FD0-E752-2CBE-61DA-4CDD5743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989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8522-75F0-C278-6E93-CA30104F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81685-227E-128F-BC30-C654D1E0F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F6B14-04EA-17CE-E42A-397A9E1A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918F9-0615-71D8-F2DD-54F68CCD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1C4F1-8A9A-2A48-A321-421A432A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484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EF26-2F51-1733-6AEF-9280CC34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14F98-0764-6E60-27B0-5E57ACD5E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0F9B0-CBBD-F94E-C0AC-45DE7901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837EB-0AF7-9330-C27F-29345A30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37196-10D9-6B4A-82BB-559A03E4A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381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FD63-8AE3-DE5A-FE44-E7E2DE1D5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AE664-EC92-D139-38C3-BF9875ED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A4A7C-E733-4A5C-C633-B46CF4CFE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747F5-8416-1226-AF77-C55D81D0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8BA7F-CE9B-679C-C711-24692D7AA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16BBC-8845-D159-A31B-2280584E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333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75EEF-8BDB-54CC-5182-E4FA9FC4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62F81-3800-3C25-68A7-53FDA1689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88B83-D5D7-8567-F4CA-1EA8CA1A2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1231F-2D5A-4A4B-7B98-20C8B5283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6405D-3730-BE51-E334-39381A7B3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5A373-F82D-D329-481E-858FD5A2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ED4A62-1ECD-D79E-A2CF-DAFAF3AD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4ADCC-F10D-3B96-6AA4-1AE08DC4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158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FAB5-BB91-A5B9-4766-E5069E4B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46227-1E11-2C78-1EA6-4E7B2F2C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C9488-4D25-7404-D601-6364700F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BAB07-2F7F-5E12-E069-31D758B3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52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A0342-315B-7453-D23E-[account-id]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AA699-8312-27CC-5D9B-95EBAF1C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8FD30-2D05-CC48-8E40-8B744AA0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682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D75ED-58BB-8D92-57C9-C15782B8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E3329-3ED5-1188-B8ED-4E0F986B0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0EC2F-E858-7E41-0A67-F93A4A559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805A0-98F7-499E-B879-4A3F6A44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11C5C-B1EB-91CA-6B8A-474CC888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A43C7-32D7-1123-469A-4F683328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994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D34C-52A5-D87E-FCA2-B7FAEA67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5D5C2-9925-E6F0-5864-83BC59E7C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767EC-03EA-76DA-FD35-B01A3FB0C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5BD7A-913B-7FDB-597B-FC57963C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9DECF-3DE6-C485-8AFB-936AA698E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E66D9-180C-ED7A-849A-5EB4E5D3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8032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5B79-F01C-804C-4E61-1A47DA43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67148-1BF1-63D6-C79F-0B92D410B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FDAD9-7303-C2EC-B274-F1DE2C4F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927E0-23E6-C7A2-DD58-99984447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75326-E6D1-014A-49FC-94FC2B51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751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37A79-42D3-4C33-7433-7367718298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CA469-E72C-78CB-2781-A427579FE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5D210-5A80-BA39-ED14-3A2E0142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A1660-31E5-9DDB-4167-A5C6CD171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C283F-675B-9C6F-FF2D-0D967C5F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4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646AC-8053-7E85-E5C0-6E3F03E4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EB08D-2A32-D722-4E7A-1328F035D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3F96A-30B8-B087-4978-186C09D6F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6FEE3-A5A7-6135-A2F0-BED2FD872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AC338-8D5B-F469-A5F7-93410D6A2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34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F85BB-65D7-0B6B-A637-312ABF20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3468" y="4741948"/>
            <a:ext cx="6829520" cy="862031"/>
          </a:xfrm>
        </p:spPr>
        <p:txBody>
          <a:bodyPr>
            <a:norm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Agentic Ai</a:t>
            </a:r>
            <a:br>
              <a:rPr lang="en-US" sz="1600" b="1">
                <a:solidFill>
                  <a:srgbClr val="FFFFFF"/>
                </a:solidFill>
              </a:rPr>
            </a:br>
            <a:br>
              <a:rPr lang="en-US" sz="1600" b="1">
                <a:solidFill>
                  <a:srgbClr val="FFFFFF"/>
                </a:solidFill>
              </a:rPr>
            </a:br>
            <a:r>
              <a:rPr lang="en-US" sz="1600" b="1">
                <a:solidFill>
                  <a:srgbClr val="FFFFFF"/>
                </a:solidFill>
              </a:rPr>
              <a:t>Claude Code: from assistant to agentic developing system</a:t>
            </a:r>
            <a:endParaRPr lang="en-GB" sz="1600">
              <a:solidFill>
                <a:srgbClr val="FFFFFF"/>
              </a:solidFill>
            </a:endParaRPr>
          </a:p>
        </p:txBody>
      </p:sp>
      <p:pic>
        <p:nvPicPr>
          <p:cNvPr id="10" name="Picture 9" descr="Graphify">
            <a:extLst>
              <a:ext uri="{FF2B5EF4-FFF2-40B4-BE49-F238E27FC236}">
                <a16:creationId xmlns:a16="http://schemas.microsoft.com/office/drawing/2014/main" id="{ADFB43AB-A93E-8772-1D14-822EE9B4C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6" y="444074"/>
            <a:ext cx="3797570" cy="17658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1F2CA2-DE15-47C8-239C-57F5DB9A8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22" y="2422097"/>
            <a:ext cx="2432184" cy="2013804"/>
          </a:xfrm>
          <a:prstGeom prst="rect">
            <a:avLst/>
          </a:prstGeom>
        </p:spPr>
      </p:pic>
      <p:pic>
        <p:nvPicPr>
          <p:cNvPr id="8" name="Picture 7" descr="A white starburst on a red background&#10;&#10;AI-generated content may be incorrect.">
            <a:extLst>
              <a:ext uri="{FF2B5EF4-FFF2-40B4-BE49-F238E27FC236}">
                <a16:creationId xmlns:a16="http://schemas.microsoft.com/office/drawing/2014/main" id="{56B3ADC5-775B-99D8-6DA6-12E101DC34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5" r="2985" b="-4"/>
          <a:stretch>
            <a:fillRect/>
          </a:stretch>
        </p:blipFill>
        <p:spPr>
          <a:xfrm>
            <a:off x="4202549" y="480651"/>
            <a:ext cx="3793472" cy="3793484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logo of a machine learning engineer&#10;&#10;AI-generated content may be incorrect.">
            <a:extLst>
              <a:ext uri="{FF2B5EF4-FFF2-40B4-BE49-F238E27FC236}">
                <a16:creationId xmlns:a16="http://schemas.microsoft.com/office/drawing/2014/main" id="{B974484C-9450-0A16-98B9-ED33CB95F5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26" r="12996"/>
          <a:stretch>
            <a:fillRect/>
          </a:stretch>
        </p:blipFill>
        <p:spPr>
          <a:xfrm>
            <a:off x="1281711" y="4525715"/>
            <a:ext cx="1866605" cy="201055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B591550-236E-C092-2595-79DBAAF3ABAD}"/>
              </a:ext>
            </a:extLst>
          </p:cNvPr>
          <p:cNvGrpSpPr/>
          <p:nvPr/>
        </p:nvGrpSpPr>
        <p:grpSpPr>
          <a:xfrm>
            <a:off x="8086176" y="737057"/>
            <a:ext cx="3797984" cy="3280672"/>
            <a:chOff x="8086176" y="737057"/>
            <a:chExt cx="3797984" cy="328067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DF5EB6-DF3D-702D-7DAE-675423396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86176" y="737057"/>
              <a:ext cx="3797984" cy="32806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4BD6C5-8DF2-E669-7A95-169D1F56A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18841" y="840007"/>
              <a:ext cx="1295581" cy="323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3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CURSO / WORKSHOP · DEVELOPER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6000" b="1">
                <a:solidFill>
                  <a:srgbClr val="E8EAED"/>
                </a:solidFill>
                <a:latin typeface="Segoe UI"/>
              </a:rPr>
              <a:t>Claude 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0">
                <a:solidFill>
                  <a:srgbClr val="9AA4B2"/>
                </a:solidFill>
                <a:latin typeface="Segoe UI"/>
              </a:rPr>
              <a:t>de asistente a </a:t>
            </a:r>
            <a:r>
              <a:rPr sz="2600" b="1">
                <a:solidFill>
                  <a:srgbClr val="E8EAED"/>
                </a:solidFill>
                <a:latin typeface="Segoe UI"/>
              </a:rPr>
              <a:t>sistema de desarrollo agéntico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84048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515600" cy="897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dirty="0">
                <a:solidFill>
                  <a:srgbClr val="D97757"/>
                </a:solidFill>
                <a:latin typeface="Segoe UI"/>
              </a:rPr>
              <a:t>PARTE 1 — 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Claude Code: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instalación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· memoria ·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contexto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&amp; caching · MCP · skills · subagents &amp; teams ·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automatización</a:t>
            </a:r>
            <a:endParaRPr sz="1350" b="0" dirty="0">
              <a:solidFill>
                <a:srgbClr val="9AA4B2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dirty="0">
                <a:solidFill>
                  <a:srgbClr val="7AA2C7"/>
                </a:solidFill>
                <a:latin typeface="Segoe UI"/>
              </a:rPr>
              <a:t>PARTE 2 — 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La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metodología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(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agnóstica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):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flujo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con gates ·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CodeGraph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/ Serena /</a:t>
            </a:r>
            <a:r>
              <a:rPr lang="en-GB" sz="1350" b="0" dirty="0">
                <a:solidFill>
                  <a:srgbClr val="9AA4B2"/>
                </a:solidFill>
                <a:latin typeface="Segoe UI"/>
              </a:rPr>
              <a:t> </a:t>
            </a:r>
            <a:r>
              <a:rPr lang="en-GB" sz="1350" b="0" dirty="0" err="1">
                <a:solidFill>
                  <a:srgbClr val="9AA4B2"/>
                </a:solidFill>
                <a:latin typeface="Segoe UI"/>
              </a:rPr>
              <a:t>Graphify</a:t>
            </a:r>
            <a:r>
              <a:rPr lang="en-GB" sz="1350" b="0" dirty="0">
                <a:solidFill>
                  <a:srgbClr val="9AA4B2"/>
                </a:solidFill>
                <a:latin typeface="Segoe UI"/>
              </a:rPr>
              <a:t> /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GSD ·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transferencia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· ops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dirty="0">
                <a:solidFill>
                  <a:srgbClr val="8CC28C"/>
                </a:solidFill>
                <a:latin typeface="Segoe UI"/>
              </a:rPr>
              <a:t>PARTE 3 — 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El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grafo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de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conocimiento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de tickets,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construido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con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graphify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: pipeline,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comandos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/kg y el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grafo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Basado en la documentación oficial (code.claude.com), el curso de hooks de Anthropic, GSD, CodeGraph y una instalación real en producción.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Un curso, tres partes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PARTE 1 · Claude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01  Instalación y uso básico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0662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02  Memoria, instrucciones y sesiones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18688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03  Contexto: context window y prompt caching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30752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7673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04  MCP — conectar tus herramientas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42816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05  Plugins, tools y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79145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06  Subagents y Agent Teams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6694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07  Automatización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PARTE 2 · La metodología (agnóstica)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9456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223113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08  El flujo de 11 etapas + ejemplo real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0662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09  Las herramientas del método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18688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25526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10  Transferir la metodología (Copilot)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30752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37673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11  Sincronización de máquinas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4340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PARTE 3 · El grafo de tickets (graphify)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5488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79145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12  Diseño · pipeline · comandos /kg · el grafo real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26694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5303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13  Cierre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La herramienta: del binario en tu terminal a equipos de agentes.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01 · Instalación y uso básico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02 · Memoria y sesiones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03 · Contexto y prompt caching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04 · 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54296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70001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05 · Plugins, tools y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654296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70001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06 · Subagents y Agent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221224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5266944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07 · Automatización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1">
            <a:extLst>
              <a:ext uri="{FF2B5EF4-FFF2-40B4-BE49-F238E27FC236}">
                <a16:creationId xmlns:a16="http://schemas.microsoft.com/office/drawing/2014/main" id="{E1EF55B5-02EB-859C-3637-47B7C2B3E7F8}"/>
              </a:ext>
            </a:extLst>
          </p:cNvPr>
          <p:cNvSpPr/>
          <p:nvPr/>
        </p:nvSpPr>
        <p:spPr>
          <a:xfrm>
            <a:off x="621792" y="4087369"/>
            <a:ext cx="5353812" cy="15544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01 · INSTALACIÓN Y USO BÁSICO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Instalar es una línea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Native (recomendado)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curl -fsSL https://claude.ai/install.sh | bash — macOS/Linux/WSL, con auto-update.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Homebrew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brew install --cask claude-code (brew upgrade para actualizar).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449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2461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2644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9125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02152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winget install Anthropic.ClaudeCode · o el instalador PowerShell.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0449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2461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2644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19125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Linux pkg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02152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apt / dnf / apk en Debian, Fedora, RHEL, Alpine.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206237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 err="1">
                <a:solidFill>
                  <a:srgbClr val="7AA2C7"/>
                </a:solidFill>
                <a:latin typeface="Segoe UI"/>
              </a:rPr>
              <a:t>Arrancar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en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cualquier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proyecto</a:t>
            </a:r>
            <a:endParaRPr sz="1400" b="1" dirty="0">
              <a:solidFill>
                <a:srgbClr val="7AA2C7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7522" y="4663438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E8EAED"/>
                </a:solidFill>
                <a:latin typeface="Consolas"/>
              </a:rPr>
              <a:t>cd 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tu-proyecto</a:t>
            </a:r>
            <a:endParaRPr sz="1150" b="0" dirty="0">
              <a:solidFill>
                <a:srgbClr val="E8EAED"/>
              </a:solidFill>
              <a:latin typeface="Consolas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 err="1">
                <a:solidFill>
                  <a:srgbClr val="E8EAED"/>
                </a:solidFill>
                <a:latin typeface="Consolas"/>
              </a:rPr>
              <a:t>claude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            # login la 1ª 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vez</a:t>
            </a:r>
            <a:endParaRPr sz="1150" b="0" dirty="0">
              <a:solidFill>
                <a:srgbClr val="E8EAED"/>
              </a:solidFill>
              <a:latin typeface="Consola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17920" y="4078222"/>
            <a:ext cx="5257800" cy="15544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55664" y="4174233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7AA2C7"/>
                </a:solidFill>
                <a:latin typeface="Segoe UI"/>
              </a:rPr>
              <a:t>El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mismo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motor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en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todas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partes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9380" y="4608573"/>
            <a:ext cx="475488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dirty="0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Terminal · VS Code / Cursor · JetBrains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dirty="0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Desktop (diffs,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sesiones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en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paralelo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dirty="0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Web (claude.ai/code,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tareas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largas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Instalar es trivial; el valor está en cómo lo usas.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01 · INSTALACIÓN Y USO BÁSICO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Dos modos: interactivo y headless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Interactivo — pensar contigo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7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Abres `claude` y conversas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mode: propone un plan y tú lo apruebas antes de tocar nada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Ideal para explorar, diseñar, depurar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Headless (-p) — componible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Un prompt: entra por stdin, sale por stdout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Encaja en tuberías Unix y en CI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 base de toda la automatización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06824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El mismo Claude, dos formas de invocarlo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10927080" cy="10058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800600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tail -200 app.log | claude -p "avísame si ves anomalías"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git diff main --name-only | claude -p "revisa estos ficheros por seguridad"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02 · MEMORIA E INSTRUCCIONES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CLAUDE.md: el patrón de dos niveles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Nivel 1 — siempre cargado (pequeño)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7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Orientación mínima: qué es el proyecto, mapa de repos, comandos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Solo PUNTEROS de una línea a todo lo demás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Es la onboarding de 30s del agente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Regla write-once: el core apunta, no copia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Nivel 2 — bajo demanda (el detalle)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data/changes/STATUS.md — estado vivo por ticket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PLAYBOOK.md — lecciones de debugging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SHARP_EDGES.md — invariantes 'no tocar'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&lt;TICKET&gt;/&lt;TICKET&gt;.md — ~55 ledgers autocontenidos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Recortamos el CLAUDE.md ~73% sin perder información: punteros, no copias.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02 · INSTRUCCIONES, PERMISOS Y AUTO-MEMORY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Jerarquía, permisos y memoria automática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55063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Jerarquía de CLAUDE.md (se combinan; @fichero importa)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50292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~/.claude/CLAUDE.md      # global usuario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&lt;repo&gt;/CLAUDE.md         # compartido (versionado)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&lt;repo&gt;/sub/CLAUDE.md     # al entrar en la subcarpeta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&lt;repo&gt;/CLAUDE.local.md   # personal, no versionado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64208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86537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Permisos = allowlist específico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22576"/>
            <a:ext cx="46634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settings.json: allow / deny / ask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Reglas concretas, no Bash(*)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mcp__serena__find_symbol, pytest exacto…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humano es dueño de push/PR/deploy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0927080" cy="14173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61688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Auto-memory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18888"/>
            <a:ext cx="1042415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 guarda aprendizajes (comandos de build, pistas de debug) entre sesiones sin que escribas nada.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02 · SESIONES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Sesiones que viajan entre superficies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16712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185415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1226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Teleport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43754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claude --teleport trae una sesión web/móvil al terminal.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965960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16712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185415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11226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Remote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423160"/>
            <a:ext cx="43754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Sigue una sesión local desde el móvil o cualquier navegador.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27832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42900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44728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7413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Desktop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85032"/>
            <a:ext cx="43754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/desktop pasa la sesión al Desktop para revisar diffs.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227832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42900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44728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7413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Channels / Slack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85032"/>
            <a:ext cx="43754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Empuja eventos externos o convierte un bug de Slack en un PR.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mismo motor y los mismos CLAUDE.md/settings/MCP en todas las superficies.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window: el recurso que gobierna 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6537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~4.200 tokens — oculto, siempre primero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65376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fijo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59152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Auto-memory + entorno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957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~680 + ~280 tokens al arrancar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9572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fijo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9504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Tools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26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índice ~120 tokens; el schema, al usar la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por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19856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4564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Tu CLAUDE.md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4564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lo que tú decidas — por eso el patrón de dos niveles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5643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tú decides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50208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98678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Conversación + tool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98678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ficheros leídos, output de comandos… crece cada turno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86784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crece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837944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Los mandos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214884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9871" y="2331720"/>
            <a:ext cx="3246120" cy="2011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/context   # desglose de uso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/compact céntrate en la API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/clear     # reset entre tareas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/rewind    # checkpoints (Esc+Esc)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61772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ED"/>
                </a:solidFill>
                <a:latin typeface="Segoe UI"/>
              </a:rPr>
              <a:t>Ventana: 200K tokens (1M en beta vía API). </a:t>
            </a:r>
            <a:r>
              <a:rPr sz="1200" b="0">
                <a:solidFill>
                  <a:srgbClr val="9AA4B2"/>
                </a:solidFill>
                <a:latin typeface="Segoe UI"/>
              </a:rPr>
              <a:t>El rendimiento degrada ANTES de llenarla: contexto con ruido = peores decisiones. Auto-compact salta cerca del límite y es lossy — mejor /compact manual con foco.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Mide con /context antes de optimizar: te dice exactamente qué bloque engorda.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Higiene de contexto: máxima señal por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4825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CLAUDE.md mínimo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Regla oficial: si puedes borrarlo sin que Claude se equivoque, bórralo. Dos niveles + punteros.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Carga bajo demanda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@imports y CLAUDE.md de subcarpeta solo cargan cuando tocan. El detalle vive fuera.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383280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MCP con moderación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Cada server suma su bloque de tools. Desactiva los que el proyecto no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Subagentes para investigar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La exploración sucia va a un subagente (sección 06); vuelve solo el resumen.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41247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471830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Explore → Plan →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Separa exploración (plan mode) de implementación; el ruido no se queda a vivir.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32804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Lecturas con puntería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“lee config/auth.js” &gt; “entiende el auth”. Adelanto: CodeGraph-primero (Parte 2).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 prevalencia de tools de la Parte 2 es, en el fondo, política de contexto.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Prompt caching: no pagar lo mismo dos veces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Cada turno reenvía TODO el contexto. La API cachea el prefijo estable — orden estricto </a:t>
            </a:r>
            <a:r>
              <a:rPr sz="1250" b="1">
                <a:solidFill>
                  <a:srgbClr val="D97757"/>
                </a:solidFill>
                <a:latin typeface="Consolas"/>
              </a:rPr>
              <a:t>Tools → System → Messages</a:t>
            </a:r>
            <a:r>
              <a:rPr sz="1250" b="0">
                <a:solidFill>
                  <a:srgbClr val="9AA4B2"/>
                </a:solidFill>
                <a:latin typeface="Segoe UI"/>
              </a:rPr>
              <a:t>: un cambio invalida su nivel y los siguientes.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5 min (defecto)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231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escribir 1.25×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leer 0.1×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1 hora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71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escribir 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718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leer 0.1×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5349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Una sesión de 50 turnos relee el prefijo 50 veces a 0.1× — </a:t>
            </a:r>
            <a:r>
              <a:rPr sz="1200" b="1">
                <a:solidFill>
                  <a:srgbClr val="8CC28C"/>
                </a:solidFill>
                <a:latin typeface="Segoe UI"/>
              </a:rPr>
              <a:t>ese es el descuento que hace viables las sesiones largas.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Mínimo cacheable ~1k tokens · máx. 4 breakpoints · diagnóstico en usage.cache_read_input_tokens.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6654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Lo estable primero; el breakpoint al final de lo estable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7744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560320"/>
            <a:ext cx="489204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system=[{ "type": "text",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"text": STABLE_INSTRUCTIONS,   # estable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"cache_control":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{"type": "ephemeral"} }]   # breakpoint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messages=[{"role": "user",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"content": query }]  # variable: FUERA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error clásico: timestamp ANTES del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breakpoint -&gt; 0 hits y nadie sabe por qué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Demo ejecutable: ejemplos/prompt-caching/cache_demo.py — mira los contadores de cache.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Caching en Claude Code: tú decides el hit-rate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73152" cy="530352"/>
          </a:xfrm>
          <a:prstGeom prst="roundRect">
            <a:avLst>
              <a:gd name="adj" fmla="val 50000"/>
            </a:avLst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39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CLAUDE.md pequeño y estable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20239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Prefijo corto que nunca cambia → hits en cada turno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96312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496312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Editar CLAUDE.md/settings a mitad de sesión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42032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Cambia el prefijo → invalida el cache desde ahí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181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118104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163824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Muchos servers MCP activos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63824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Bloque de tools grande y cambiante → escrituras caras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39896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3739896"/>
            <a:ext cx="73152" cy="530352"/>
          </a:xfrm>
          <a:prstGeom prst="roundRect">
            <a:avLst>
              <a:gd name="adj" fmla="val 50000"/>
            </a:avLst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785615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Sesión larga, turnos frecuentes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85615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El historial se relee a 0.1× — el caso ideal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61688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4361688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407407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/compact o auto-compact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407407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Reescribe el historial → rompe el cache de mensajes una vez, y sigue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47488"/>
            <a:ext cx="10927080" cy="553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AA4B2"/>
                </a:solidFill>
                <a:latin typeface="Segoe UI"/>
              </a:rPr>
              <a:t>Claude Code lo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aplica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solo (system + tools +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historial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=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prefijo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). </a:t>
            </a:r>
            <a:r>
              <a:rPr sz="1100" b="1" dirty="0">
                <a:solidFill>
                  <a:srgbClr val="E8EAED"/>
                </a:solidFill>
                <a:latin typeface="Segoe UI"/>
              </a:rPr>
              <a:t>TTL </a:t>
            </a:r>
            <a:r>
              <a:rPr sz="1100" b="1" dirty="0" err="1">
                <a:solidFill>
                  <a:srgbClr val="E8EAED"/>
                </a:solidFill>
                <a:latin typeface="Segoe UI"/>
              </a:rPr>
              <a:t>por</a:t>
            </a:r>
            <a:r>
              <a:rPr sz="1100" b="1" dirty="0">
                <a:solidFill>
                  <a:srgbClr val="E8EAED"/>
                </a:solidFill>
                <a:latin typeface="Segoe UI"/>
              </a:rPr>
              <a:t> </a:t>
            </a:r>
            <a:r>
              <a:rPr sz="1100" b="1" dirty="0" err="1">
                <a:solidFill>
                  <a:srgbClr val="E8EAED"/>
                </a:solidFill>
                <a:latin typeface="Segoe UI"/>
              </a:rPr>
              <a:t>defecto</a:t>
            </a:r>
            <a:r>
              <a:rPr sz="1100" b="1" dirty="0">
                <a:solidFill>
                  <a:srgbClr val="E8EAED"/>
                </a:solidFill>
                <a:latin typeface="Segoe UI"/>
              </a:rPr>
              <a:t>: 1 h con </a:t>
            </a:r>
            <a:r>
              <a:rPr sz="1100" b="1" dirty="0" err="1">
                <a:solidFill>
                  <a:srgbClr val="E8EAED"/>
                </a:solidFill>
                <a:latin typeface="Segoe UI"/>
              </a:rPr>
              <a:t>suscripción</a:t>
            </a:r>
            <a:r>
              <a:rPr sz="1100" b="1" dirty="0">
                <a:solidFill>
                  <a:srgbClr val="E8EAED"/>
                </a:solidFill>
                <a:latin typeface="Segoe UI"/>
              </a:rPr>
              <a:t> · 5 min con API key. 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Cambiar/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apagar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por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env var: </a:t>
            </a:r>
            <a:r>
              <a:rPr sz="1050" b="0" dirty="0">
                <a:solidFill>
                  <a:srgbClr val="D97757"/>
                </a:solidFill>
                <a:latin typeface="Consolas"/>
              </a:rPr>
              <a:t>ENABLE_PROMPT_CACHING_1H · FORCE_PROMPT_CACHING_5M · DISABLE_PROMPT_CACHING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. Cada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lectura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renueva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la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ventana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: con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suscripción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,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una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pausa de hasta 1 h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sigue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</a:t>
            </a:r>
            <a:r>
              <a:rPr lang="en-GB" sz="1100" b="0" dirty="0" err="1">
                <a:solidFill>
                  <a:srgbClr val="9AA4B2"/>
                </a:solidFill>
                <a:latin typeface="Segoe UI"/>
              </a:rPr>
              <a:t>en</a:t>
            </a:r>
            <a:r>
              <a:rPr lang="en-GB" sz="1100" b="0" dirty="0">
                <a:solidFill>
                  <a:srgbClr val="9AA4B2"/>
                </a:solidFill>
                <a:latin typeface="Segoe UI"/>
              </a:rPr>
              <a:t> cache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944156"/>
            <a:ext cx="106070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>Contexto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>hay </a:t>
            </a:r>
            <a:r>
              <a:rPr lang="en-GB" sz="1250" b="0" dirty="0" err="1">
                <a:solidFill>
                  <a:srgbClr val="E8EAED"/>
                </a:solidFill>
                <a:latin typeface="Segoe UI"/>
              </a:rPr>
              <a:t>que</a:t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le</a:t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>er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 y </a:t>
            </a:r>
            <a:r>
              <a:rPr lang="en-GB" sz="1250" b="0" dirty="0" err="1">
                <a:solidFill>
                  <a:srgbClr val="E8EAED"/>
                </a:solidFill>
                <a:latin typeface="Segoe UI"/>
              </a:rPr>
              <a:t>esto</a:t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> lo </a:t>
            </a:r>
            <a:r>
              <a:rPr lang="en-GB" sz="1250" b="0" dirty="0" err="1">
                <a:solidFill>
                  <a:srgbClr val="E8EAED"/>
                </a:solidFill>
                <a:latin typeface="Segoe UI"/>
              </a:rPr>
              <a:t>hace</a:t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> mas </a:t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>estable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>rinde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>mejor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>y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 cuesta </a:t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>menos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: dos </a:t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>niveles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>optimiza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 ambos </a:t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>ejes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 a la </a:t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>vez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>.</a:t>
            </a:r>
            <a:r>
              <a:rPr sz="1300" b="1" dirty="0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04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Model Context Protocol: conecta tu mundo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Estándar abierto para enchufar Claude a datos y tools externas. Las tools aparecen como </a:t>
            </a:r>
            <a:r>
              <a:rPr sz="1250" b="1">
                <a:solidFill>
                  <a:srgbClr val="D97757"/>
                </a:solidFill>
                <a:latin typeface="Consolas"/>
              </a:rPr>
              <a:t>mcp__&lt;server&gt;__&lt;tool&gt;</a:t>
            </a:r>
            <a:r>
              <a:rPr sz="1250" b="0">
                <a:solidFill>
                  <a:srgbClr val="9AA4B2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7" y="25328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5511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780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Scope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.claude/settings.local.json — solo tú, esta máquina.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2331720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32804" y="25328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2804" y="25511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4780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Scope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4596" y="2788920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.mcp.json en la raíz, versionado, compartido con el equipo.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021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7" y="37033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7216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4845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Scope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59352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~/.claude.json — todos tus proyectos.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35021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32804" y="37033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2804" y="37216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4845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Servers que uso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4596" y="3959352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serena · context7 · playwright · codegraph · supabase.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15384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Añadir un server (secretos por env var; cada server suma contexto — sección 03)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26280"/>
            <a:ext cx="10927080" cy="10515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4709160"/>
            <a:ext cx="1046988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add --transport http context7 https://mcp.context7.com/mcp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list      # estado      /mcp   # auth OAuth y tools dentro de la sesión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05 · PLUGINS, TOOLS Y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Cuatro capas de extensibilidad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Lo que Claude puede hacer: Read/Edit/Bash/Grep/Task + mcp__*. Gobernadas por permisos.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Slash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.claude/commands/x.md = /x. El cuerpo es el prompt. Lo invocas tú.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82111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383279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40156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28415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39311"/>
            <a:ext cx="4375404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.claude/skills/x/SKILL.md con description. Claude la auto-selecciona; lleva scripts/plantillas.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82111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383279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40156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28415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Plugins +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39311"/>
            <a:ext cx="4375404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Agrupan skills+comandos+agentes+MCP+hooks. /plugin install. GSD es uno.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AA2C7"/>
                </a:solidFill>
                <a:latin typeface="Segoe UI"/>
              </a:rPr>
              <a:t>La 5ª capa — subagentes y equipos de agentes — merece sección propia: es la siguiente.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Slash command = atajo que invocas tú. Skill = capacidad que Claude decide usar. Plugin = el reparto.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 Y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Subagentes: el ruido muere fuera de tu sesión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Built-ins (tool Task)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Explore — búsqueda read-only por el codebase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— diseñar la estrategia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general-purpose — multi-paso, todos los tools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 paralelo para trabajo independiente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Custom: un .md con frontmatter (/agents los lista)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23774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.claude/agents/security-reviewer.md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name: security-reviewer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description: Revisa vulnerabilidades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tras cambios en auth o deps.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tools: Read, Grep, Glob, Bash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model: opus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Eres un ingeniero de seguridad senior…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7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Lo que hay que saber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7"/>
            <a:ext cx="484632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Contexto AISLADO: solo el resumen vuelve a tu sesión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hereda tu conversación: contexto en el prompt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description = auto-selección · tools = allowlist propio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Ejemplos reales en ejemplos/subagents/: security-reviewer y refactor-scout (regla CodeGraph→Serena).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 Y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 Teams: varios Claudes que se coordinan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La arquitectura (experimental)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Lead + teammates: cada uno una SESIÓN completa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Task list compartida: ~/.claude/tasks/&lt;team&gt;/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Mensajería directa entre teammates (inboxes)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Pueden debatir hallazgos, no solo reportar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Roles = tus subagentes custom reutilizados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Activar (off por defecto)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~/.claude/settings.json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{ "env": { "CLAUDE_CODE_EXPERIMENTAL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_AGENT_TEAMS": "1" },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"teammateMode": "in-process" }  // tmux|iterm2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0873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Límites hoy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4456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Sin /resume in-process · un team por sesión · sin anidar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Split-panes requiere tmux o iTerm2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Coste: cada teammate es una sesión completa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349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4B2"/>
                </a:solidFill>
                <a:latin typeface="Segoe UI"/>
              </a:rPr>
              <a:t>Se pide en lenguaje natural: </a:t>
            </a:r>
            <a:r>
              <a:rPr sz="1150" b="0">
                <a:solidFill>
                  <a:srgbClr val="E8EAED"/>
                </a:solidFill>
                <a:latin typeface="Segoe UI"/>
              </a:rPr>
              <a:t>“monta un equipo con un architect y dos implementers; exige aprobación de plan antes de tocar código”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Particiona los ficheros: cada teammate es dueño de los suyos.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53B7-85B5-6281-9492-98EA3A5A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30954D-B99B-5794-83DE-E304686660F1}"/>
              </a:ext>
            </a:extLst>
          </p:cNvPr>
          <p:cNvSpPr/>
          <p:nvPr/>
        </p:nvSpPr>
        <p:spPr>
          <a:xfrm>
            <a:off x="-82296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60B63D-C1F5-00FC-B7C0-84A9C5972257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CE552-5271-A4ED-EF57-A2731E4BB67E}"/>
              </a:ext>
            </a:extLst>
          </p:cNvPr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 Y AGENT TEAMS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3A10A-ABB9-3449-03D2-98D8A7A83EBF}"/>
              </a:ext>
            </a:extLst>
          </p:cNvPr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 Teams: varios Claudes que se coordinan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815B85-1E66-F07E-E8C4-BCF5AD623A6E}"/>
              </a:ext>
            </a:extLst>
          </p:cNvPr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D23D4-2CE1-8A2D-4E18-ECE73B85D37F}"/>
              </a:ext>
            </a:extLst>
          </p:cNvPr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6997B-B88D-4C1F-6A97-7E31D4373D01}"/>
              </a:ext>
            </a:extLst>
          </p:cNvPr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047FE3-F06A-A831-7182-18CA8413D426}"/>
              </a:ext>
            </a:extLst>
          </p:cNvPr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06D701D-CA3C-5F04-BE9A-F9D9D0165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" y="750198"/>
            <a:ext cx="11594592" cy="564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62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 Y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¿Subagente o team? La decisión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288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SUBAGENTE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AGENT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Aislado; devuelve un resumen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860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Cada teammate = sesión completa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07208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852928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Comunicación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85292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Solo resultado →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5292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Task list + mensajes entre teammates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74136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419856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41985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Bajo (lo caro muere fuera)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41985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Alto (N sesiones en paralelo)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41064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9867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Úsalo para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98678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Side-quests: investigar, verificar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98678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Paralelismo real: revisión multi-capa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07992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537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55371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Nada, o .claude/agents/*.md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55371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Env var experimental +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93792"/>
            <a:ext cx="10927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Puente a la Parte 2: </a:t>
            </a:r>
            <a:r>
              <a:rPr sz="1150" b="0">
                <a:solidFill>
                  <a:srgbClr val="9AA4B2"/>
                </a:solidFill>
                <a:latin typeface="Segoe UI"/>
              </a:rPr>
              <a:t>GSD empaqueta exactamente esto — gsd-planner, gsd-executor, gsd-verifier son subagentes custom como plugin (este proyecto usa el flujo data/changes/, no GSD — ver Parte 2).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Subagente para que el ruido muera fuera; team para que varios Claudes debatan. El coste no es el mismo.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07 ·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Hooks: el control determinista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8346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contrato de un 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Payload del evento por STDIN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Eventos: PreToolUse, PostToolUse, SessionStart, Stop…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Matcher = regex sobre el nombre de la tool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exit 0 permite · exit 2 BLOQUEA (stderr → Claude)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Pre = intención (tool_input) · Post = resultado (tool_response)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Patrón de bloqueo (JS)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if (payload.tool_input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?.file_path?.includes(".env"))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console.error("Bloqueado: no leas .env");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process.exit(2);   // &lt;-- veto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process.exit(0);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Con instrucciones le pides que se porte bien; con un hook lo garantizas.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10927080" cy="1892808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07 ·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De hooks a agentes programados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Seguridad (.env), formato (prettier), type-check bloqueante, 'IA revisando IA' vía SDK.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Headless / piping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claude -p en cualquier tubería Unix o script.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90672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2918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31012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3697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CI/CD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47872"/>
            <a:ext cx="43754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GitHub Actions · GitLab · GitHub Code Review sobre cada PR.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090672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2918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31012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23697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Scheduling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47872"/>
            <a:ext cx="43754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Routines (/schedule, infra Anthropic) · Desktop tasks · /loop.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397" y="4261104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7AA2C7"/>
                </a:solidFill>
                <a:latin typeface="Segoe UI"/>
              </a:rPr>
              <a:t>Agent SDK — workflows a </a:t>
            </a:r>
            <a:r>
              <a:rPr sz="1100" b="1" dirty="0" err="1">
                <a:solidFill>
                  <a:srgbClr val="7AA2C7"/>
                </a:solidFill>
                <a:latin typeface="Segoe UI"/>
              </a:rPr>
              <a:t>medida</a:t>
            </a:r>
            <a:r>
              <a:rPr sz="1100" b="1" dirty="0">
                <a:solidFill>
                  <a:srgbClr val="7AA2C7"/>
                </a:solidFill>
                <a:latin typeface="Segoe UI"/>
              </a:rPr>
              <a:t> (</a:t>
            </a:r>
            <a:r>
              <a:rPr sz="1100" b="1" dirty="0" err="1">
                <a:solidFill>
                  <a:srgbClr val="7AA2C7"/>
                </a:solidFill>
                <a:latin typeface="Segoe UI"/>
              </a:rPr>
              <a:t>menor</a:t>
            </a:r>
            <a:r>
              <a:rPr sz="1100" b="1" dirty="0">
                <a:solidFill>
                  <a:srgbClr val="7AA2C7"/>
                </a:solidFill>
                <a:latin typeface="Segoe UI"/>
              </a:rPr>
              <a:t> privilegio)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736592"/>
            <a:ext cx="10469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E8EAED"/>
                </a:solidFill>
                <a:latin typeface="Consolas"/>
              </a:rPr>
              <a:t>import { query } from "@anthropic-ai/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claude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-agent-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sdk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";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E8EAED"/>
                </a:solidFill>
                <a:latin typeface="Consolas"/>
              </a:rPr>
              <a:t>for await (const m of query({ prompt, options: { 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allowedTools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: ["Edit"] } }))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E8EAED"/>
                </a:solidFill>
                <a:latin typeface="Consolas"/>
              </a:rPr>
              <a:t>  if (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m.type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 === "result") console.log(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m.result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La metodología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Agnóstica de la herramienta: se demuestra con Claude Code, pero la disciplina viaja.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08 · El flujo de 11 etapas + ejemplo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09 · Las herramientas del método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10 · Transferir a otro agente (Copilot)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11 · Sincronización de máquinas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agente es un colaborador disciplinado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EAED"/>
                </a:solidFill>
                <a:latin typeface="Segoe UI"/>
              </a:rPr>
              <a:t>“La autonomía se gana por-decisión, no se concede en bloque.”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El agente posee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Investigación y diagnóstico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Planes e implementación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Tests y documentación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El humano posee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67328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Decisiones go/no-go y el scope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Toda acción externa: push, PR, deploy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 aprobación del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13892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Agnóstica:  </a:t>
            </a:r>
            <a:r>
              <a:rPr sz="1100" b="0">
                <a:solidFill>
                  <a:srgbClr val="9AA4B2"/>
                </a:solidFill>
                <a:latin typeface="Segoe UI"/>
              </a:rPr>
              <a:t>no es un flujo de Claude Code — es una forma de trabajar con CUALQUIER agente. La sección 10 lo demuestra transfiriéndola a GitHub Copilot.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modelo no gana confianza gratis: la gana decisión a decisión, con evidencia.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dirty="0">
                <a:solidFill>
                  <a:srgbClr val="E8EAED"/>
                </a:solidFill>
                <a:latin typeface="Segoe UI"/>
              </a:rPr>
              <a:t>Un </a:t>
            </a:r>
            <a:r>
              <a:rPr sz="3000" b="1" dirty="0" err="1">
                <a:solidFill>
                  <a:srgbClr val="E8EAED"/>
                </a:solidFill>
                <a:latin typeface="Segoe UI"/>
              </a:rPr>
              <a:t>ejemplo</a:t>
            </a:r>
            <a:r>
              <a:rPr sz="3000" b="1" dirty="0">
                <a:solidFill>
                  <a:srgbClr val="E8EAED"/>
                </a:solidFill>
                <a:latin typeface="Segoe UI"/>
              </a:rPr>
              <a:t> real, </a:t>
            </a:r>
            <a:r>
              <a:rPr lang="en-GB" sz="3000" b="1" dirty="0" err="1">
                <a:solidFill>
                  <a:srgbClr val="E8EAED"/>
                </a:solidFill>
                <a:latin typeface="Segoe UI"/>
              </a:rPr>
              <a:t>Arquitectura</a:t>
            </a:r>
            <a:r>
              <a:rPr lang="en-GB" sz="3000" b="1" dirty="0">
                <a:solidFill>
                  <a:srgbClr val="E8EAED"/>
                </a:solidFill>
                <a:latin typeface="Segoe UI"/>
              </a:rPr>
              <a:t> </a:t>
            </a:r>
            <a:r>
              <a:rPr lang="en-GB" sz="3000" b="1" dirty="0" err="1">
                <a:solidFill>
                  <a:srgbClr val="E8EAED"/>
                </a:solidFill>
                <a:latin typeface="Segoe UI"/>
              </a:rPr>
              <a:t>Aplicacion</a:t>
            </a:r>
            <a:endParaRPr sz="3000" b="1" dirty="0">
              <a:solidFill>
                <a:srgbClr val="E8EAED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27080" cy="566928"/>
          </a:xfrm>
          <a:prstGeom prst="roundRect">
            <a:avLst>
              <a:gd name="adj" fmla="val 10000"/>
            </a:avLst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Bug QA: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“un campo sale vacío en la UI, pero está escrito en el PDF.”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54203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/kg saca la zona de peligro (un SHARP_EDGE que restringe el fix); git/gh dan la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54096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30540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El campo está vacío en el JSON del endpoint (Playwright/F12) → el Lambda es responsable.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Re-extraer en la base previa: ya salía vacío → pre-existente, no regresión.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78224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407822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localizan el detector; un _diag_pdf.py determinista da la causa: SIN LLM.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90288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45902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verificar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Test RED → fix estructural (no cliente) → regresión no-op + contrato local (wrapper) + dentro de la imagen desplegada.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0235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510235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Sanitizar → el humano hace push/PR. Un bot detecta un caso más → test + PLAYBOOK.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modelo no gana confianza gratis: la gana decisión a decisión, con evidencia.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6953C6D-B7EA-5D13-3CD3-9B97B5F2D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" y="1387551"/>
            <a:ext cx="11308842" cy="54133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flujo real de 11 etapas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8096" y="1975103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3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929384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Orientar: /kg + history-first + status-first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78024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8096" y="2578608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25786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2532888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Triaje inbound: ¿síntoma en el contrato?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81528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68096" y="3182112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31821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136392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Regresión vs. pre-existente (probarlo)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85031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6" y="3785615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78561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739895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Investigar: oráculo determinista barato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88536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8096" y="4389120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43891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343399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Plan → acuerdo humano explícito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92040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68096" y="4992624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49926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7" y="4946903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Implementar: TDD RED → GREEN, mínimo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874519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91656" y="1975103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1656" y="1975103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1929384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Verificar: contrato (wrapper) + imagen desplegada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478024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391656" y="2578608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91656" y="25786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2532888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Documentar — cada cosa una vez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081528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391656" y="3182112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91656" y="31821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3136392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Sanitizar — líneas añadidas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685031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391656" y="3785615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91656" y="378561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3739895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Handoff: el humano hace push / PR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288536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391656" y="4389120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91656" y="43891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43399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Revisión bot + persistir lecciones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504688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■ </a:t>
            </a:r>
            <a:r>
              <a:rPr sz="1100" b="0">
                <a:solidFill>
                  <a:srgbClr val="9AA4B2"/>
                </a:solidFill>
                <a:latin typeface="Segoe UI"/>
              </a:rPr>
              <a:t>Los recuadros coral son GATES (puntos de decisión). Un gate rojo = STOP: no escribir código.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agente orquesta y es donde vive la inferencia; lo caro se concentra en plan/código/verify, no en buscar.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CA02-1C20-94A7-9CE6-7F7F3186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865F38-7D6F-B081-83BA-5BC1E32D0257}"/>
              </a:ext>
            </a:extLst>
          </p:cNvPr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5EB85-FF1D-2494-8ED0-8927A28C93E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E6F93-D25A-57C0-77C2-88C7E5F6395E}"/>
              </a:ext>
            </a:extLst>
          </p:cNvPr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A2E75-AA88-C1A3-8BC5-FA7DDD9D9780}"/>
              </a:ext>
            </a:extLst>
          </p:cNvPr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Un ejemplo real, de principio a fin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914871-DCB7-740A-1965-AC6BACC62AD8}"/>
              </a:ext>
            </a:extLst>
          </p:cNvPr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A71F9-BD71-E267-8697-8F1FF2F1A1E1}"/>
              </a:ext>
            </a:extLst>
          </p:cNvPr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47046-7965-BA71-1F00-D8ABEFF53042}"/>
              </a:ext>
            </a:extLst>
          </p:cNvPr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0C9E11-411A-918F-B700-38BF88ECB135}"/>
              </a:ext>
            </a:extLst>
          </p:cNvPr>
          <p:cNvSpPr/>
          <p:nvPr/>
        </p:nvSpPr>
        <p:spPr>
          <a:xfrm>
            <a:off x="640080" y="1783080"/>
            <a:ext cx="10927080" cy="566928"/>
          </a:xfrm>
          <a:prstGeom prst="roundRect">
            <a:avLst>
              <a:gd name="adj" fmla="val 10000"/>
            </a:avLst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6DFDFD-E646-7DC0-F860-0FC73785B094}"/>
              </a:ext>
            </a:extLst>
          </p:cNvPr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Bug QA: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“un campo sale vacío en la UI, pero está escrito en el PDF.”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0B290B-D11A-34E0-80DB-6D11FC1CDA05}"/>
              </a:ext>
            </a:extLst>
          </p:cNvPr>
          <p:cNvSpPr/>
          <p:nvPr/>
        </p:nvSpPr>
        <p:spPr>
          <a:xfrm>
            <a:off x="640080" y="254203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5FC8411-E428-E5C6-BA61-F800F369FCED}"/>
              </a:ext>
            </a:extLst>
          </p:cNvPr>
          <p:cNvSpPr/>
          <p:nvPr/>
        </p:nvSpPr>
        <p:spPr>
          <a:xfrm>
            <a:off x="640080" y="254203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5F84C3-4980-3F6D-389D-ADEED202A316}"/>
              </a:ext>
            </a:extLst>
          </p:cNvPr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217FA-2FE6-3D61-854D-491C690978FD}"/>
              </a:ext>
            </a:extLst>
          </p:cNvPr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/kg saca la zona de peligro (un SHARP_EDGE que restringe el fix); git/gh dan la base.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F2F30B6-2413-7E86-FEA0-A2876C575FD8}"/>
              </a:ext>
            </a:extLst>
          </p:cNvPr>
          <p:cNvSpPr/>
          <p:nvPr/>
        </p:nvSpPr>
        <p:spPr>
          <a:xfrm>
            <a:off x="640080" y="3054096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E2DAEDA-3400-3D7E-7C98-BFCE31614486}"/>
              </a:ext>
            </a:extLst>
          </p:cNvPr>
          <p:cNvSpPr/>
          <p:nvPr/>
        </p:nvSpPr>
        <p:spPr>
          <a:xfrm>
            <a:off x="640080" y="30540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B7DF6B-336B-6A2B-991C-AD9CCEF9883B}"/>
              </a:ext>
            </a:extLst>
          </p:cNvPr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2DF16A-94A2-77CE-E20B-2263CA39EF3B}"/>
              </a:ext>
            </a:extLst>
          </p:cNvPr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El campo está vacío en el JSON del endpoint (Playwright/F12) → el Lambda es responsable.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00CEA6C-8D29-8FEE-4339-7ACEF1372D6C}"/>
              </a:ext>
            </a:extLst>
          </p:cNvPr>
          <p:cNvSpPr/>
          <p:nvPr/>
        </p:nvSpPr>
        <p:spPr>
          <a:xfrm>
            <a:off x="640080" y="3566160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9A0FDB5-DC69-64F9-7D9C-4C50C3C3506C}"/>
              </a:ext>
            </a:extLst>
          </p:cNvPr>
          <p:cNvSpPr/>
          <p:nvPr/>
        </p:nvSpPr>
        <p:spPr>
          <a:xfrm>
            <a:off x="640080" y="356616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C6CCCE-1FE9-AF3C-2375-6DDBE5CDDEE9}"/>
              </a:ext>
            </a:extLst>
          </p:cNvPr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FD3CAC-1A45-605E-52AA-E13042393F48}"/>
              </a:ext>
            </a:extLst>
          </p:cNvPr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Re-extraer en la base previa: ya salía vacío → pre-existente, no regresión.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15B6919-17A0-EFBF-A829-E43D58E6557F}"/>
              </a:ext>
            </a:extLst>
          </p:cNvPr>
          <p:cNvSpPr/>
          <p:nvPr/>
        </p:nvSpPr>
        <p:spPr>
          <a:xfrm>
            <a:off x="640080" y="4078224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FF0FD6F-D01C-3E4E-D8D3-8048770A6E33}"/>
              </a:ext>
            </a:extLst>
          </p:cNvPr>
          <p:cNvSpPr/>
          <p:nvPr/>
        </p:nvSpPr>
        <p:spPr>
          <a:xfrm>
            <a:off x="640080" y="407822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60F844-9871-AB54-9BFA-237182EB676C}"/>
              </a:ext>
            </a:extLst>
          </p:cNvPr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1A787-6F90-F532-277E-FC1CD481DD00}"/>
              </a:ext>
            </a:extLst>
          </p:cNvPr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localizan el detector; un _diag_pdf.py determinista da la causa: SIN LLM.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0467D1D-E204-9365-52A4-99057E472B3B}"/>
              </a:ext>
            </a:extLst>
          </p:cNvPr>
          <p:cNvSpPr/>
          <p:nvPr/>
        </p:nvSpPr>
        <p:spPr>
          <a:xfrm>
            <a:off x="640080" y="4590288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16CFA53-3B4E-7A8B-FA0E-1386FA1041AC}"/>
              </a:ext>
            </a:extLst>
          </p:cNvPr>
          <p:cNvSpPr/>
          <p:nvPr/>
        </p:nvSpPr>
        <p:spPr>
          <a:xfrm>
            <a:off x="640080" y="45902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393DDF-442E-BA89-FBE8-F7F638B5F781}"/>
              </a:ext>
            </a:extLst>
          </p:cNvPr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verificar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B7F6C2-7B05-6E20-0E25-F11F74AC1C2A}"/>
              </a:ext>
            </a:extLst>
          </p:cNvPr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Test RED → fix estructural (no cliente) → regresión no-op + contrato local (wrapper) + dentro de la imagen desplegada.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AFD76A4-30BF-407D-3915-BDF7BAA3D11B}"/>
              </a:ext>
            </a:extLst>
          </p:cNvPr>
          <p:cNvSpPr/>
          <p:nvPr/>
        </p:nvSpPr>
        <p:spPr>
          <a:xfrm>
            <a:off x="640080" y="510235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A304E30-91C2-1D02-3C5F-082DF6C429B1}"/>
              </a:ext>
            </a:extLst>
          </p:cNvPr>
          <p:cNvSpPr/>
          <p:nvPr/>
        </p:nvSpPr>
        <p:spPr>
          <a:xfrm>
            <a:off x="640080" y="510235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AC503E-96F5-2960-AD40-5913378FD478}"/>
              </a:ext>
            </a:extLst>
          </p:cNvPr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629FE2-6A3E-2AB9-AC7C-A32CC2C46043}"/>
              </a:ext>
            </a:extLst>
          </p:cNvPr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Sanitizar → el humano hace push/PR. Un bot detecta un caso más → test + PLAYBOOK.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D87D28-9EFB-971C-AE8A-96161CEF7DB5}"/>
              </a:ext>
            </a:extLst>
          </p:cNvPr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736D472-5821-A00F-91CF-84D7F9598BF3}"/>
              </a:ext>
            </a:extLst>
          </p:cNvPr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F69F6B-EA63-9568-FF7A-C42B26CF6108}"/>
              </a:ext>
            </a:extLst>
          </p:cNvPr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modelo no gana confianza gratis: la gana decisión a decisión, con evidencia.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  <p:extLst>
      <p:ext uri="{BB962C8B-B14F-4D97-AF65-F5344CB8AC3E}">
        <p14:creationId xmlns:p14="http://schemas.microsoft.com/office/powerpoint/2010/main" val="958565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Qué herramienta usa el agente, y cuándo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Regla del CLAUDE.md: </a:t>
            </a:r>
            <a:r>
              <a:rPr sz="1200" b="1">
                <a:solidFill>
                  <a:srgbClr val="E8EAED"/>
                </a:solidFill>
                <a:latin typeface="Segoe UI"/>
              </a:rPr>
              <a:t>codegraph_explore PRIMERO (survey en 1 llamada) · Serena find_referencing_symbols para el chequeo preciso antes de renombrar. </a:t>
            </a:r>
            <a:r>
              <a:rPr sz="1200" b="0">
                <a:solidFill>
                  <a:srgbClr val="9AA4B2"/>
                </a:solidFill>
                <a:latin typeface="Segoe UI"/>
              </a:rPr>
              <a:t>Orden: barato → caro, determinista → probabilístico.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31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/kg (grafo de tickets → zona de peligro) · STATUS.md · git · 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3317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sin inferencia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4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Navegar (survey)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803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CodeGraph codegraph_explore — fuente + rutas + blast radius + cobertura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80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1 llamada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Refactor-check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4290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Serena find_referencing_symbols — desambigua por clase (antes de renombrar)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4290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preciso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3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Diagnosticar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072033"/>
            <a:ext cx="64008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GB" sz="1150" b="0" dirty="0" err="1">
                <a:solidFill>
                  <a:srgbClr val="E8EAED"/>
                </a:solidFill>
                <a:latin typeface="Segoe UI"/>
              </a:rPr>
              <a:t>Codigo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determinista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: parser /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validador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 / _diag_*.py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9776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sin inferencia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8056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Entorno (logs, config)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526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AWS CLI — CloudWatch · lambda get-function · SQS/DLQ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526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read-only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2920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Contrato de salida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Playwright / F12 sobre el endpoint que ve el consumidor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5074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reproducir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57784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62355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Solo al 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623559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La tirada del LLM — para VERIFICAR el fix, no para diagnosticar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62355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metered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Cada herramienta, en una frase — y su fase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4825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CodeGraph → investigar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Grafo del CÓDIGO (tree-sitter→SQLite, local). Survey en 1 llamada: fuente + callers + blast radius + cobertura.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Serena → pre-refactor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Navegación semántica vía LSP. find_referencing_symbols desambigua por clase: el chequeo preciso antes de renombrar.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383280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GSD → plan/ejecutar/verificar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El método productizado (subagentes gsd-* + .planning/). Para greenfield multi-fase; este proyecto usa data/changes/, no GSD.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/kg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Grafo de tickets → orientar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Grafo de la MEMORIA del proyecto (con graphify): tickets + sharp edges. History-first sin LLM (Parte 3).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41247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471830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Playwright → triaje y outbound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Reproduce el síntoma donde lo ve el consumidor: el endpoint real, no una función interna.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32804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Oráculos → diagnosticar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Parsers/validadores/_diag_*.py propios: respuesta barata y reproducible antes de gastar la tirada del LLM.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 inversión clásica — el modelo diagnostica — es lo que este orden evita: el modelo verifica; los oráculos diagnostican.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GSD: la metodología hecha tooling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Ciclo por fases, estado versionado en .planning/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5623560" cy="29260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16636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/gsd-new-project  -&gt; PROJECT.md + ROADMAP.md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/gsd-plan-phase   -&gt; PLAN.md  (+ gate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gsd-plan-checker)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/gsd-execute-phase-&gt; olas paralelas,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commits atómicos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/gsd-verify-work  -&gt; VERIFICATION.md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endParaRPr sz="1150" b="0">
              <a:solidFill>
                <a:srgbClr val="E8EAED"/>
              </a:solidFill>
              <a:latin typeface="Consolas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/gsd-progress     # qué toca ahora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700784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59" y="190195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Subagentes especializados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359152"/>
            <a:ext cx="457200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gsd-planner — desglose + dependencias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gsd-plan-checker — ¿logrará el objetivo? (goal-backward)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gsd-executor — commits atómicos, checkpoints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gsd-code-reviewer — REVIEW.md por severidad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gsd-verifier — verifica el OBJETIVO, no solo tareas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¿Lo usamos aquí? No: </a:t>
            </a:r>
            <a:r>
              <a:rPr sz="1150" b="0">
                <a:solidFill>
                  <a:srgbClr val="9AA4B2"/>
                </a:solidFill>
                <a:latin typeface="Segoe UI"/>
              </a:rPr>
              <a:t>este proyecto corre el flujo de 11 etapas + data/changes/, más depurado para fixes por ticket. GSD encaja en un greenfield multi-componente (roadmap → fases). Aquí ilustra la Parte 1: subagentes custom + skills como plugin.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Mismo método, productizado: GSD para greenfield multi-fase; aquí, data/changes/ afinado a fixes por ticket.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CodeGraph: inteligencia de código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1945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Índice tree-sitter → SQLite (.codegraph/)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Símbolos: funciones, clases, rutas, componentes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Aristas: llamadas, imports, herencia, referencias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Determinista (del AST), sin API keys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Devuelve: fuente + rutas + blast radius + cobertura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078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CLI  (install --location=global escribe el MCP)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349240" cy="15544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194560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init      # crea .codegraph/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sync      # incremental tras editar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explore "&lt;símbolo|pregunta&gt;"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serve --path &lt;repo&gt; --mcp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913632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Primero para navegar:  </a:t>
            </a:r>
            <a:r>
              <a:rPr sz="1100" b="0">
                <a:solidFill>
                  <a:srgbClr val="E8EAED"/>
                </a:solidFill>
                <a:latin typeface="Segoe UI"/>
              </a:rPr>
              <a:t>fuente + callers + blast radius + cobertura en 1 consulta (trátala como YA leída). Serena find_referencing_symbols = chequeo preciso (desambigua por clase). --path fija el repo por defecto.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5349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CC28C"/>
                </a:solidFill>
                <a:latin typeface="Segoe UI"/>
              </a:rPr>
              <a:t>58% menos tool calls · 22% más rápido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(según sus benchmarks: casi elimina las lecturas de fichero)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Una consulta en vez de grep→abrir→seguir-import→repetir. Menos contexto, más señal.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Serena: navegación semántica, chequeo preciso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Navegación semántica vía LSP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Opera sobre SÍMBOLOS, no texto: precisión de IDE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find_symbol (body=true) — un método de un fichero de 5k líneas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get_symbols_overview — esqueleto de un fichero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find_referencing_symbols — quién referencia, POR CLASE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search_for_pattern · activate_project (multi-repo)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Instalar (stdio)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12344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add serena -- uvx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--from git+https://github.com/oraios/serena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serena start-mcp-server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Por qué es OBLIGATORIO pre-rename:  </a:t>
            </a:r>
            <a:r>
              <a:rPr sz="1100" b="0">
                <a:solidFill>
                  <a:srgbClr val="E8EAED"/>
                </a:solidFill>
                <a:latin typeface="Segoe UI"/>
              </a:rPr>
              <a:t>el impact plano de CodeGraph mezcla métodos homónimos (Invoice.process vs Refund.process); Serena los desambigua por clase. Complementarios, no rivales.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349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El subagente refactor-scout </a:t>
            </a:r>
            <a:r>
              <a:rPr sz="1150" b="0">
                <a:solidFill>
                  <a:srgbClr val="9AA4B2"/>
                </a:solidFill>
                <a:latin typeface="Segoe UI"/>
              </a:rPr>
              <a:t>(ejemplos/subagents/) empaqueta el orden CodeGraph → Serena → grep como procedimiento.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CodeGraph responde '¿qué se rompe?'; Serena responde '¿exactamente quién llama a ESTE process()?'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10 · TRANSFERENCIA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La prueba de que es agnóstica: llevarla a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Viaja SIN cambios (las 5 reglas)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→ acuerdo → implementar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Verificar en el contrato del CONSUMIDOR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Resolver la clase general, no un input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Rastro durable: porqué, qué, cómo se verificó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humano posee lo externo (merge, deploy)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Se re-mapea por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contrato: HTTP / DB / evento / artefacto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tracker: Jira · Azure Boards · Issues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 pirámide de tests y el runtime desplegado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Las reglas de sanitización locales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Las tools: Serena/CodeGraph//kg son fungibles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10927080" cy="1143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starter-kit (docs/ai-agents-code-methodology/)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4241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Plantillas STATUS · SHARP_EDGES · handover · QA + bootstrap-new-repo.ps1 → estructura en el repo destino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Sin grafo de tickets: fallback determinista (STATUS newest-first + búsqueda léxica + historia de commits) = 80% del valor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Si solo conservas cinco reglas, conserva esas cinco. Las tools se sustituyen; la disciplina viaja.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11 ·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Un runbook real: sincronizar máquinas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Outbound — copia completa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Un tarball: workspace + ~/.claude · .aws · .ssh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-h dereferencia el symlink de .aws (crítico)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Excluye venvs / node_modules / caches / .codegraph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USB: mount manual en WSL + verificar byte a byte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 destino: bootstrap (/kg) + target-setup.sh rehacen el tooling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Inbound — solo delta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código ya está en GitHub → git fetch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Docs gitignored de data/ + memoria (snapshot-memory) viajan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 la principal: restore-memory → /kg-refresh reconstruye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backup + diff de STATUS.md; STOP si hubo ediciones propias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07408"/>
            <a:ext cx="10927080" cy="12801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608576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landing lo conduce un agente — con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65776"/>
            <a:ext cx="10424159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Solo no-destructivo (renombrar, no borrar) · git fetch = única op de 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humano hace push / merge; el agente prepara y reporta con evidencia (conteos, PRs)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 metodología no es solo para código: memoria durable, guardrails y 'el humano hace lo externo' también en ops.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El grafo de tickets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Un caso completo construido con graphify — no con CodeGraph: la memoria del proyecto, navegable.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12a · El problema y el diseño (spike)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12b · Pipeline y comandos (/kg, /kg-refresh)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12c · El grafo real, visualizado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12d · Uso y enganche en la metodología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12A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problema, y por qué graphify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~540 ficheros de writeups, sharp edges, runbooks, memoria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Un bug 'nuevo' casi siempre tiene contexto previo que restringe el fix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Encontrarlo a mano = recordar que existe +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grafo lo hace EXPLÍCITO y consultable en 1 llamada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El corpus: manifest, no glob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manifest.txt DIFFEABLE: ~116 ficheros, ~196k palabras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Writeups sst-* (+ fallback determinista) · hubs · runbooks · memoria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Exclusiones duras: binarios, handovers repetidos, copias stale (payload/)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Densidad sin conocimiento nuevo = ruido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234440"/>
          </a:xfrm>
          <a:prstGeom prst="roundRect">
            <a:avLst>
              <a:gd name="adj" fmla="val 8000"/>
            </a:avLst>
          </a:prstGeom>
          <a:solidFill>
            <a:srgbClr val="222B38"/>
          </a:solidFill>
          <a:ln w="9525">
            <a:solidFill>
              <a:srgbClr val="8CC2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424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La tecnología es graphify — CodeGraph es solo la analogía.  </a:t>
            </a:r>
            <a:r>
              <a:rPr sz="1150" b="0">
                <a:solidFill>
                  <a:srgbClr val="E8EAED"/>
                </a:solidFill>
                <a:latin typeface="Segoe UI"/>
              </a:rPr>
              <a:t>Mismo rol (grafo consultable antes de tocar nada), otro dominio (tickets, no código), otra herramienta. La Fase 1 fue un SPIKE con decisión keep/extend/replace: validar graphify off-the-shelf antes de invertir en extracción custom. Bastó — y se quedó.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Material completo (diseño, scripts, tests, salida real): docs/knowledge-graph/.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12B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Pipeline y comandos creados en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Build (skill /kg-refresh)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806440" cy="19659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prepare   # manifest -&gt; stage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-&gt; scratch FUERA del repo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/graphify &lt;scratch&gt;     # ÚNICO paso con LLM: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nodos+aristas+clustering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finalize  # output/ + leak-check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755648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59" y="195681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Las piezas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414015"/>
            <a:ext cx="4343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/kg y /kg-refresh — skills de Claude 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kg_query.sh — envuelve graphify explain/path + find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kg_refresh.sh — prepare · finalize · bootstrap · snapshot/restore-memory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build_manifest.py + stage_corpus.py — el corpus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test_kg_*.py — los bookends, TESTEADOS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24528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El gotcha que lo sostiene:  </a:t>
            </a:r>
            <a:r>
              <a:rPr sz="1150" b="0">
                <a:solidFill>
                  <a:srgbClr val="E8EAED"/>
                </a:solidFill>
                <a:latin typeface="Segoe UI"/>
              </a:rPr>
              <a:t>graphify respeta .gitignore y todo data/ lo está → correr el detector in situ encuentra 0 ficheros. Por eso el corpus se monta en un scratch fuera del repo y los artefactos se copian de vuelta.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Por eso /kg-refresh es un skill, no un script: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paso semántico (/graphify, subagentes en paralelo) es un paso de Claude; los bookends son deterministas.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Staging con provenance: tkt-103__tkt-103.md, hub__STATUS.md, memory__x.md — cada nodo traza a su fuente.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12C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grafo real: 507 nodos, 35 comunidades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64792"/>
            <a:ext cx="8083296" cy="4562856"/>
          </a:xfrm>
          <a:prstGeom prst="rect">
            <a:avLst/>
          </a:prstGeom>
          <a:noFill/>
          <a:ln w="12700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k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804672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69680" y="178308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9842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La salida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441448"/>
            <a:ext cx="21945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507 nodos · 672 aristas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35 comunidades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92% EXTRACTED (fiable)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7% INFERRED (conf. 0.7)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116 ficheros, ~196k palabras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029200"/>
            <a:ext cx="2697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graph.html interactivo: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búsqueda de nodos, panel de info, filtro por comunidad (vis-network).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Las comunidades mapean a zonas de peligro reales; los god-nodes son la lista de onboarding gratis.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12D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Cómo se usa — y dónde se engancha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Consulta: CERO LLM (kg_query.sh lee graph.json)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806440" cy="182880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&lt;ticket|tema&gt;  # vecinos   (explain)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&lt;A&gt; &lt;B&gt;        # camino    (path)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find &lt;substr&gt;  # nombre exacto de nodo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/kg-refresh        # reconstruir (barato)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755648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59" y="195681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Dónde se engancha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414015"/>
            <a:ext cx="4343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Etapa 1 (Orientar) del flujo de 11 etapas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Regla history-first del CLAUDE.md: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/kg &lt;ticket|tema&gt; ANTES de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Apunta a QUÉ leer; no lo sustituye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806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Ejemplo real: /kg get_letter_end </a:t>
            </a:r>
            <a:r>
              <a:rPr sz="1150" b="0">
                <a:solidFill>
                  <a:srgbClr val="9AA4B2"/>
                </a:solidFill>
                <a:latin typeface="Segoe UI"/>
              </a:rPr>
              <a:t>→ la zona de peligro completa al instante: los 5-6 tickets que comparten ese código.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5488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956048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Honestidad y ciclo de vida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10424159" cy="9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Recall en zonas densas · EXTRACTED = fiable, INFERRED = pista · interno (data/) · derivado: nunca viaja, se reconstruye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Un paso semántico en el build, cero LLM en la consulta. El grafo es el mapa; el agente, el guía.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De asistente a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PARTE 1 · la herramienta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31343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Instalar + memoria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4203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Una línea; CLAUDE.md de dos niveles; sesiones que viajan.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1752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318211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19125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Contexto &amp;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1071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El presupuesto y el descuento: lean y estable gana en ambos.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405079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05993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7763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MCP + skills + plugins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7939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Conecta tu mundo; empaqueta y distribuye flujos.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79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" y="491947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92861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4631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Subagents &amp; teams + automatización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48071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Escala el trabajo; hooks que garantizan calidad.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PARTE 2 + 3 · el método y el grafo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4884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0" y="231343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232257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El flujo de 11 etapas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54203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Gates deterministas; el humano posee las decisiones.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01752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00800" y="318211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19125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1089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Las tools del método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41071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CodeGraph · Serena · oráculos: barato→caro; GSD = el método productizado.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88620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400800" y="405079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405993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97763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Transferible y hasta en 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7939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Starter-kit probado en Copilot; machine-sync con guardrails.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754879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00800" y="491947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492861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84631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El grafo de tickets (graphify)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48071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507 nodos · 35 comunidades: history-first sin LLM.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Referencias:  code.claude.com/docs  ·  github.com/tomascortereal/claude-code-setup  ·  colbymchenry.github.io/codegraph  ·  github.com/oraios/serena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6006</Words>
  <Application>Microsoft Office PowerPoint</Application>
  <PresentationFormat>Widescreen</PresentationFormat>
  <Paragraphs>698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Aptos Display</vt:lpstr>
      <vt:lpstr>Arial</vt:lpstr>
      <vt:lpstr>Calibri</vt:lpstr>
      <vt:lpstr>Consolas</vt:lpstr>
      <vt:lpstr>Segoe UI</vt:lpstr>
      <vt:lpstr>Office Theme</vt:lpstr>
      <vt:lpstr>1_Office Theme</vt:lpstr>
      <vt:lpstr>Agentic Ai  Claude Code: from assistant to agentic developing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 SHR</cp:lastModifiedBy>
  <cp:revision>10</cp:revision>
  <dcterms:created xsi:type="dcterms:W3CDTF">2013-01-27T09:14:16Z</dcterms:created>
  <dcterms:modified xsi:type="dcterms:W3CDTF">2026-07-20T07:28:14Z</dcterms:modified>
  <cp:category/>
</cp:coreProperties>
</file>